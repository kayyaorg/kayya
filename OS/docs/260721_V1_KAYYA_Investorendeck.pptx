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Umsatz (T€)</c:v>
                </c:pt>
              </c:strCache>
            </c:strRef>
          </c:tx>
          <c:spPr>
            <a:solidFill>
              <a:srgbClr val="1F4E5F"/>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Jahr 1</c:v>
                  </c:pt>
                  <c:pt idx="1">
                    <c:v>Jahr 2</c:v>
                  </c:pt>
                  <c:pt idx="2">
                    <c:v>Jahr 3</c:v>
                  </c:pt>
                </c:lvl>
              </c:multiLvlStrCache>
            </c:multiLvlStrRef>
          </c:cat>
          <c:val>
            <c:numRef>
              <c:f>Sheet1!$B$2:$B$4</c:f>
              <c:numCache>
                <c:formatCode>General</c:formatCode>
                <c:ptCount val="3"/>
                <c:pt idx="0">
                  <c:v>350</c:v>
                </c:pt>
                <c:pt idx="1">
                  <c:v>1050</c:v>
                </c:pt>
                <c:pt idx="2">
                  <c:v>2100</c:v>
                </c:pt>
              </c:numCache>
            </c:numRef>
          </c:val>
        </c:ser>
        <c:ser>
          <c:idx val="1"/>
          <c:order val="1"/>
          <c:tx>
            <c:strRef>
              <c:f>Sheet1!$C$1</c:f>
              <c:strCache>
                <c:ptCount val="1"/>
                <c:pt idx="0">
                  <c:v>Ergebnis (T€)</c:v>
                </c:pt>
              </c:strCache>
            </c:strRef>
          </c:tx>
          <c:spPr>
            <a:solidFill>
              <a:srgbClr val="2E6B2E"/>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Jahr 1</c:v>
                  </c:pt>
                  <c:pt idx="1">
                    <c:v>Jahr 2</c:v>
                  </c:pt>
                  <c:pt idx="2">
                    <c:v>Jahr 3</c:v>
                  </c:pt>
                </c:lvl>
              </c:multiLvlStrCache>
            </c:multiLvlStrRef>
          </c:cat>
          <c:val>
            <c:numRef>
              <c:f>Sheet1!$C$2:$C$4</c:f>
              <c:numCache>
                <c:formatCode>General</c:formatCode>
                <c:ptCount val="3"/>
                <c:pt idx="0">
                  <c:v>-70</c:v>
                </c:pt>
                <c:pt idx="1">
                  <c:v>110</c:v>
                </c:pt>
                <c:pt idx="2">
                  <c:v>400</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9999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5F"/>
        </a:solidFill>
      </p:bgPr>
    </p:bg>
    <p:spTree>
      <p:nvGrpSpPr>
        <p:cNvPr id="1" name=""/>
        <p:cNvGrpSpPr/>
        <p:nvPr/>
      </p:nvGrpSpPr>
      <p:grpSpPr>
        <a:xfrm>
          <a:off x="0" y="0"/>
          <a:ext cx="0" cy="0"/>
          <a:chOff x="0" y="0"/>
          <a:chExt cx="0" cy="0"/>
        </a:xfrm>
      </p:grpSpPr>
      <p:sp>
        <p:nvSpPr>
          <p:cNvPr id="2" name="Text 0"/>
          <p:cNvSpPr/>
          <p:nvPr/>
        </p:nvSpPr>
        <p:spPr>
          <a:xfrm>
            <a:off x="731520" y="1828800"/>
            <a:ext cx="10725912" cy="1097280"/>
          </a:xfrm>
          <a:prstGeom prst="rect">
            <a:avLst/>
          </a:prstGeom>
          <a:noFill/>
          <a:ln/>
        </p:spPr>
        <p:txBody>
          <a:bodyPr wrap="square" rtlCol="0" anchor="ctr"/>
          <a:lstStyle/>
          <a:p>
            <a:pPr algn="ctr" indent="0" marL="0">
              <a:buNone/>
            </a:pPr>
            <a:r>
              <a:rPr lang="en-US" sz="7200" b="1" spc="600" kern="0" dirty="0">
                <a:solidFill>
                  <a:srgbClr val="FFFFFF"/>
                </a:solidFill>
                <a:latin typeface="Calibri" pitchFamily="34" charset="0"/>
                <a:ea typeface="Calibri" pitchFamily="34" charset="-122"/>
                <a:cs typeface="Calibri" pitchFamily="34" charset="-120"/>
              </a:rPr>
              <a:t>KAȲȲA</a:t>
            </a:r>
            <a:endParaRPr lang="en-US" sz="7200" dirty="0"/>
          </a:p>
        </p:txBody>
      </p:sp>
      <p:sp>
        <p:nvSpPr>
          <p:cNvPr id="3" name="Text 1"/>
          <p:cNvSpPr/>
          <p:nvPr/>
        </p:nvSpPr>
        <p:spPr>
          <a:xfrm>
            <a:off x="731520" y="2880360"/>
            <a:ext cx="10725912" cy="365760"/>
          </a:xfrm>
          <a:prstGeom prst="rect">
            <a:avLst/>
          </a:prstGeom>
          <a:noFill/>
          <a:ln/>
        </p:spPr>
        <p:txBody>
          <a:bodyPr wrap="square" rtlCol="0" anchor="ctr"/>
          <a:lstStyle/>
          <a:p>
            <a:pPr algn="ctr" indent="0" marL="0">
              <a:buNone/>
            </a:pPr>
            <a:r>
              <a:rPr lang="en-US" sz="1400" dirty="0">
                <a:solidFill>
                  <a:srgbClr val="B9CDD6"/>
                </a:solidFill>
              </a:rPr>
              <a:t>(Arbeitstitel)</a:t>
            </a:r>
            <a:endParaRPr lang="en-US" sz="1400" dirty="0"/>
          </a:p>
        </p:txBody>
      </p:sp>
      <p:sp>
        <p:nvSpPr>
          <p:cNvPr id="4" name="Text 2"/>
          <p:cNvSpPr/>
          <p:nvPr/>
        </p:nvSpPr>
        <p:spPr>
          <a:xfrm>
            <a:off x="731520" y="3383280"/>
            <a:ext cx="10725912" cy="548640"/>
          </a:xfrm>
          <a:prstGeom prst="rect">
            <a:avLst/>
          </a:prstGeom>
          <a:noFill/>
          <a:ln/>
        </p:spPr>
        <p:txBody>
          <a:bodyPr wrap="square" rtlCol="0" anchor="ctr"/>
          <a:lstStyle/>
          <a:p>
            <a:pPr algn="ctr" indent="0" marL="0">
              <a:buNone/>
            </a:pPr>
            <a:r>
              <a:rPr lang="en-US" sz="2400" dirty="0">
                <a:solidFill>
                  <a:srgbClr val="FFFFFF"/>
                </a:solidFill>
              </a:rPr>
              <a:t>Der erste Bildungs- und Eingliederungsträger mit offenen Büchern.</a:t>
            </a:r>
            <a:endParaRPr lang="en-US" sz="2400" dirty="0"/>
          </a:p>
        </p:txBody>
      </p:sp>
      <p:sp>
        <p:nvSpPr>
          <p:cNvPr id="5" name="Text 3"/>
          <p:cNvSpPr/>
          <p:nvPr/>
        </p:nvSpPr>
        <p:spPr>
          <a:xfrm>
            <a:off x="731520" y="3977640"/>
            <a:ext cx="10725912" cy="457200"/>
          </a:xfrm>
          <a:prstGeom prst="rect">
            <a:avLst/>
          </a:prstGeom>
          <a:noFill/>
          <a:ln/>
        </p:spPr>
        <p:txBody>
          <a:bodyPr wrap="square" rtlCol="0" anchor="ctr"/>
          <a:lstStyle/>
          <a:p>
            <a:pPr algn="ctr" indent="0" marL="0">
              <a:buNone/>
            </a:pPr>
            <a:r>
              <a:rPr lang="en-US" sz="1500" i="1" dirty="0">
                <a:solidFill>
                  <a:srgbClr val="B9CDD6"/>
                </a:solidFill>
              </a:rPr>
              <a:t>KI-verwaltet · gemeinnützig · international – und in Echtzeit prüfbar für jeden Kostenträger</a:t>
            </a:r>
            <a:endParaRPr lang="en-US" sz="1500" dirty="0"/>
          </a:p>
        </p:txBody>
      </p:sp>
      <p:sp>
        <p:nvSpPr>
          <p:cNvPr id="6" name="Text 4"/>
          <p:cNvSpPr/>
          <p:nvPr/>
        </p:nvSpPr>
        <p:spPr>
          <a:xfrm>
            <a:off x="731520" y="5943600"/>
            <a:ext cx="10725912" cy="365760"/>
          </a:xfrm>
          <a:prstGeom prst="rect">
            <a:avLst/>
          </a:prstGeom>
          <a:noFill/>
          <a:ln/>
        </p:spPr>
        <p:txBody>
          <a:bodyPr wrap="square" rtlCol="0" anchor="ctr"/>
          <a:lstStyle/>
          <a:p>
            <a:pPr algn="ctr" indent="0" marL="0">
              <a:buNone/>
            </a:pPr>
            <a:r>
              <a:rPr lang="en-US" sz="1200" dirty="0">
                <a:solidFill>
                  <a:srgbClr val="B9CDD6"/>
                </a:solidFill>
              </a:rPr>
              <a:t>Investorenpräsentation · Bernhard Krug · Juli 2026 · Version 260721 · vertraulich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7315200" cy="274320"/>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KAȲȲA (Arbeitstitel) · Investorenpräsentation · vertraulich</a:t>
            </a:r>
            <a:endParaRPr lang="en-US" sz="900" dirty="0"/>
          </a:p>
        </p:txBody>
      </p:sp>
      <p:sp>
        <p:nvSpPr>
          <p:cNvPr id="3" name="Text 1"/>
          <p:cNvSpPr/>
          <p:nvPr/>
        </p:nvSpPr>
        <p:spPr>
          <a:xfrm>
            <a:off x="11274552" y="6473952"/>
            <a:ext cx="365760" cy="274320"/>
          </a:xfrm>
          <a:prstGeom prst="rect">
            <a:avLst/>
          </a:prstGeom>
          <a:noFill/>
          <a:ln/>
        </p:spPr>
        <p:txBody>
          <a:bodyPr wrap="square" rtlCol="0" anchor="ctr"/>
          <a:lstStyle/>
          <a:p>
            <a:pPr algn="r" indent="0" marL="0">
              <a:buNone/>
            </a:pPr>
            <a:r>
              <a:rPr lang="en-US" sz="900" dirty="0">
                <a:solidFill>
                  <a:srgbClr val="666666"/>
                </a:solidFill>
              </a:rPr>
              <a:t>2</a:t>
            </a:r>
            <a:endParaRPr lang="en-US" sz="900" dirty="0"/>
          </a:p>
        </p:txBody>
      </p:sp>
      <p:sp>
        <p:nvSpPr>
          <p:cNvPr id="4" name="Text 2"/>
          <p:cNvSpPr/>
          <p:nvPr/>
        </p:nvSpPr>
        <p:spPr>
          <a:xfrm>
            <a:off x="548640" y="320040"/>
            <a:ext cx="11091672" cy="640080"/>
          </a:xfrm>
          <a:prstGeom prst="rect">
            <a:avLst/>
          </a:prstGeom>
          <a:noFill/>
          <a:ln/>
        </p:spPr>
        <p:txBody>
          <a:bodyPr wrap="square" rtlCol="0" anchor="ctr"/>
          <a:lstStyle/>
          <a:p>
            <a:pPr indent="0" marL="0">
              <a:buNone/>
            </a:pPr>
            <a:r>
              <a:rPr lang="en-US" sz="3000" b="1" dirty="0">
                <a:solidFill>
                  <a:srgbClr val="1F4E5F"/>
                </a:solidFill>
              </a:rPr>
              <a:t>Wie alles begann: zwei Betten, ein Flur, eine Idee</a:t>
            </a:r>
            <a:endParaRPr lang="en-US" sz="3000" dirty="0"/>
          </a:p>
        </p:txBody>
      </p:sp>
      <p:sp>
        <p:nvSpPr>
          <p:cNvPr id="5" name="Text 3"/>
          <p:cNvSpPr/>
          <p:nvPr/>
        </p:nvSpPr>
        <p:spPr>
          <a:xfrm>
            <a:off x="457200" y="822960"/>
            <a:ext cx="1463040" cy="1463040"/>
          </a:xfrm>
          <a:prstGeom prst="rect">
            <a:avLst/>
          </a:prstGeom>
          <a:noFill/>
          <a:ln/>
        </p:spPr>
        <p:txBody>
          <a:bodyPr wrap="square" rtlCol="0" anchor="ctr"/>
          <a:lstStyle/>
          <a:p>
            <a:pPr indent="0" marL="0">
              <a:buNone/>
            </a:pPr>
            <a:r>
              <a:rPr lang="en-US" sz="12000" b="1" dirty="0">
                <a:solidFill>
                  <a:srgbClr val="D9E5EA"/>
                </a:solidFill>
                <a:latin typeface="Cambria" pitchFamily="34" charset="0"/>
                <a:ea typeface="Cambria" pitchFamily="34" charset="-122"/>
                <a:cs typeface="Cambria" pitchFamily="34" charset="-120"/>
              </a:rPr>
              <a:t>„</a:t>
            </a:r>
            <a:endParaRPr lang="en-US" sz="12000" dirty="0"/>
          </a:p>
        </p:txBody>
      </p:sp>
      <p:sp>
        <p:nvSpPr>
          <p:cNvPr id="6" name="Text 4"/>
          <p:cNvSpPr/>
          <p:nvPr/>
        </p:nvSpPr>
        <p:spPr>
          <a:xfrm>
            <a:off x="1554480" y="1143000"/>
            <a:ext cx="9692640" cy="3977640"/>
          </a:xfrm>
          <a:prstGeom prst="rect">
            <a:avLst/>
          </a:prstGeom>
          <a:noFill/>
          <a:ln/>
        </p:spPr>
        <p:txBody>
          <a:bodyPr wrap="square" rtlCol="0" anchor="t"/>
          <a:lstStyle/>
          <a:p>
            <a:pPr indent="0" marL="0">
              <a:lnSpc>
                <a:spcPts val="1900"/>
              </a:lnSpc>
              <a:buNone/>
            </a:pPr>
            <a:r>
              <a:rPr lang="en-US" sz="1400" i="1" dirty="0">
                <a:solidFill>
                  <a:srgbClr val="333333"/>
                </a:solidFill>
                <a:latin typeface="Cambria" pitchFamily="34" charset="0"/>
                <a:ea typeface="Cambria" pitchFamily="34" charset="-122"/>
                <a:cs typeface="Cambria" pitchFamily="34" charset="-120"/>
              </a:rPr>
              <a:t>Drei Wochen Reha für den einen, vier für den anderen. Zwei Rehabilitanden, ein Flur: Bernhard und Florian. Man kommt ins Gespräch – und merkt schnell: Diese Klinik kämpft. Nicht für ihre Rehabilitanden, sondern gegen ihr eigenes Sparprogramm – getrieben von Investoren, die Rendite aus ihr herausholen müssen.</a:t>
            </a:r>
            <a:endParaRPr lang="en-US" sz="1400" dirty="0"/>
          </a:p>
          <a:p>
            <a:pPr indent="0" marL="0">
              <a:lnSpc>
                <a:spcPts val="1900"/>
              </a:lnSpc>
              <a:buNone/>
            </a:pPr>
            <a:endParaRPr lang="en-US" sz="1400" dirty="0"/>
          </a:p>
          <a:p>
            <a:pPr indent="0" marL="0">
              <a:lnSpc>
                <a:spcPts val="1900"/>
              </a:lnSpc>
              <a:buNone/>
            </a:pPr>
            <a:r>
              <a:rPr lang="en-US" sz="1400" i="1" dirty="0">
                <a:solidFill>
                  <a:srgbClr val="333333"/>
                </a:solidFill>
                <a:latin typeface="Cambria" pitchFamily="34" charset="0"/>
                <a:ea typeface="Cambria" pitchFamily="34" charset="-122"/>
                <a:cs typeface="Cambria" pitchFamily="34" charset="-120"/>
              </a:rPr>
              <a:t>Wir haben das Defizit im System nicht nur erkannt – wir haben es gespürt. Und das Absurde daran: An Geld fehlt es nicht. Die Kostenträger geben genug für uns aus. Es kam nur nicht bei uns an. Das Arztgespräch: zwei Minuten. Als ließen sich Körper und Psyche trennen. Ausgerechnet in den Wochen, in denen es um alles ging: bestmögliche Heilung, Rehabilitation, die schnellstmögliche Rückkehr ins Berufsleben – und vor allem zu unseren Familien, deren Erwartungen wir entsprechen wollen und müssen.</a:t>
            </a:r>
            <a:endParaRPr lang="en-US" sz="1400" dirty="0"/>
          </a:p>
          <a:p>
            <a:pPr indent="0" marL="0">
              <a:lnSpc>
                <a:spcPts val="1900"/>
              </a:lnSpc>
              <a:buNone/>
            </a:pPr>
            <a:endParaRPr lang="en-US" sz="1400" dirty="0"/>
          </a:p>
          <a:p>
            <a:pPr indent="0" marL="0">
              <a:lnSpc>
                <a:spcPts val="1900"/>
              </a:lnSpc>
              <a:buNone/>
            </a:pPr>
            <a:r>
              <a:rPr lang="en-US" sz="1400" i="1" dirty="0">
                <a:solidFill>
                  <a:srgbClr val="333333"/>
                </a:solidFill>
                <a:latin typeface="Cambria" pitchFamily="34" charset="0"/>
                <a:ea typeface="Cambria" pitchFamily="34" charset="-122"/>
                <a:cs typeface="Cambria" pitchFamily="34" charset="-120"/>
              </a:rPr>
              <a:t>Zu Hause ließ uns das nicht mehr los. Wir gruben uns durch das System – und fanden das Muster überall, weit über die Reha hinaus, in allen geförderten Maßnahmen: Eingliederungsquoten, die niemand nachprüfen kann. Daneben die Milliarden, die dafür Jahr für Jahr aufgewendet werden. Ein unglaubliches, nicht überprüfbares Missverhältnis zwischen Mitteleinsatz und Erfolg – wie auch immer man Erfolg definieren will. Es ist kein Einzelfall. Es ist ein strukturelles Problem.</a:t>
            </a:r>
            <a:endParaRPr lang="en-US" sz="1400" dirty="0"/>
          </a:p>
          <a:p>
            <a:pPr indent="0" marL="0">
              <a:lnSpc>
                <a:spcPts val="1900"/>
              </a:lnSpc>
              <a:buNone/>
            </a:pPr>
            <a:endParaRPr lang="en-US" sz="1400" dirty="0"/>
          </a:p>
          <a:p>
            <a:pPr indent="0" marL="0">
              <a:lnSpc>
                <a:spcPts val="1900"/>
              </a:lnSpc>
              <a:buNone/>
            </a:pPr>
            <a:r>
              <a:rPr lang="en-US" sz="1400" i="1" dirty="0">
                <a:solidFill>
                  <a:srgbClr val="333333"/>
                </a:solidFill>
                <a:latin typeface="Cambria" pitchFamily="34" charset="0"/>
                <a:ea typeface="Cambria" pitchFamily="34" charset="-122"/>
                <a:cs typeface="Cambria" pitchFamily="34" charset="-120"/>
              </a:rPr>
              <a:t>Aus der Serviette wurde ein Papier. Aus dem Papier ein Plan: Das geht besser. Und wir bauen es.</a:t>
            </a:r>
            <a:endParaRPr lang="en-US" sz="1400" dirty="0"/>
          </a:p>
        </p:txBody>
      </p:sp>
      <p:sp>
        <p:nvSpPr>
          <p:cNvPr id="7" name="Text 5"/>
          <p:cNvSpPr/>
          <p:nvPr/>
        </p:nvSpPr>
        <p:spPr>
          <a:xfrm>
            <a:off x="1554480" y="5212080"/>
            <a:ext cx="5029200" cy="502920"/>
          </a:xfrm>
          <a:prstGeom prst="rect">
            <a:avLst/>
          </a:prstGeom>
          <a:noFill/>
          <a:ln/>
        </p:spPr>
        <p:txBody>
          <a:bodyPr wrap="square" rtlCol="0" anchor="ctr"/>
          <a:lstStyle/>
          <a:p>
            <a:pPr indent="0" marL="0">
              <a:buNone/>
            </a:pPr>
            <a:r>
              <a:rPr lang="en-US" sz="2200" b="1" dirty="0">
                <a:solidFill>
                  <a:srgbClr val="1F4E5F"/>
                </a:solidFill>
                <a:latin typeface="Calibri" pitchFamily="34" charset="0"/>
                <a:ea typeface="Calibri" pitchFamily="34" charset="-122"/>
                <a:cs typeface="Calibri" pitchFamily="34" charset="-120"/>
              </a:rPr>
              <a:t>So entstand KAȲȲA.</a:t>
            </a:r>
            <a:endParaRPr lang="en-US" sz="2200" dirty="0"/>
          </a:p>
        </p:txBody>
      </p:sp>
      <p:sp>
        <p:nvSpPr>
          <p:cNvPr id="8" name="Text 6"/>
          <p:cNvSpPr/>
          <p:nvPr/>
        </p:nvSpPr>
        <p:spPr>
          <a:xfrm>
            <a:off x="1554480" y="5760720"/>
            <a:ext cx="9692640" cy="685800"/>
          </a:xfrm>
          <a:prstGeom prst="rect">
            <a:avLst/>
          </a:prstGeom>
          <a:noFill/>
          <a:ln/>
        </p:spPr>
        <p:txBody>
          <a:bodyPr wrap="square" rtlCol="0" anchor="t"/>
          <a:lstStyle/>
          <a:p>
            <a:pPr indent="0" marL="0">
              <a:buNone/>
            </a:pPr>
            <a:r>
              <a:rPr lang="en-US" sz="1400" b="1" i="1" dirty="0">
                <a:solidFill>
                  <a:srgbClr val="1F4E5F"/>
                </a:solidFill>
              </a:rPr>
              <a:t>Dieses Papier wurde verfasst von Herzinfarkt und Lungenembolie.</a:t>
            </a:r>
            <a:endParaRPr lang="en-US" sz="1400" dirty="0"/>
          </a:p>
          <a:p>
            <a:pPr indent="0" marL="0">
              <a:buNone/>
            </a:pPr>
            <a:r>
              <a:rPr lang="en-US" sz="1400" dirty="0">
                <a:solidFill>
                  <a:srgbClr val="666666"/>
                </a:solidFill>
              </a:rPr>
              <a:t>Bernhard &amp; Florian · Gründer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3000" b="1" dirty="0">
                <a:solidFill>
                  <a:srgbClr val="1F4E5F"/>
                </a:solidFill>
                <a:latin typeface="Calibri" pitchFamily="34" charset="0"/>
                <a:ea typeface="Calibri" pitchFamily="34" charset="-122"/>
                <a:cs typeface="Calibri" pitchFamily="34" charset="-120"/>
              </a:rPr>
              <a:t>Ein Milliardenmarkt, der sein Geld nicht bei den Menschen ankommen lässt</a:t>
            </a:r>
            <a:endParaRPr lang="en-US" sz="3000" dirty="0"/>
          </a:p>
        </p:txBody>
      </p:sp>
      <p:sp>
        <p:nvSpPr>
          <p:cNvPr id="3" name="Text 1"/>
          <p:cNvSpPr/>
          <p:nvPr/>
        </p:nvSpPr>
        <p:spPr>
          <a:xfrm>
            <a:off x="548640" y="6473952"/>
            <a:ext cx="7315200" cy="274320"/>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KAȲȲA (Arbeitstitel) · Investorenpräsentation · vertraulich</a:t>
            </a:r>
            <a:endParaRPr lang="en-US" sz="900" dirty="0"/>
          </a:p>
        </p:txBody>
      </p:sp>
      <p:sp>
        <p:nvSpPr>
          <p:cNvPr id="4" name="Text 2"/>
          <p:cNvSpPr/>
          <p:nvPr/>
        </p:nvSpPr>
        <p:spPr>
          <a:xfrm>
            <a:off x="11274552" y="6473952"/>
            <a:ext cx="365760" cy="274320"/>
          </a:xfrm>
          <a:prstGeom prst="rect">
            <a:avLst/>
          </a:prstGeom>
          <a:noFill/>
          <a:ln/>
        </p:spPr>
        <p:txBody>
          <a:bodyPr wrap="square" rtlCol="0" anchor="ctr"/>
          <a:lstStyle/>
          <a:p>
            <a:pPr algn="r" indent="0" marL="0">
              <a:buNone/>
            </a:pPr>
            <a:r>
              <a:rPr lang="en-US" sz="900" dirty="0">
                <a:solidFill>
                  <a:srgbClr val="666666"/>
                </a:solidFill>
              </a:rPr>
              <a:t>3</a:t>
            </a:r>
            <a:endParaRPr lang="en-US" sz="900" dirty="0"/>
          </a:p>
        </p:txBody>
      </p:sp>
      <p:sp>
        <p:nvSpPr>
          <p:cNvPr id="5" name="Shape 3"/>
          <p:cNvSpPr/>
          <p:nvPr/>
        </p:nvSpPr>
        <p:spPr>
          <a:xfrm>
            <a:off x="548640" y="1188720"/>
            <a:ext cx="3566160" cy="1417320"/>
          </a:xfrm>
          <a:prstGeom prst="roundRect">
            <a:avLst>
              <a:gd name="adj" fmla="val 5161"/>
            </a:avLst>
          </a:prstGeom>
          <a:solidFill>
            <a:srgbClr val="EDF4F6"/>
          </a:solidFill>
          <a:ln w="6350">
            <a:solidFill>
              <a:srgbClr val="DDDDDD"/>
            </a:solidFill>
            <a:prstDash val="solid"/>
          </a:ln>
        </p:spPr>
      </p:sp>
      <p:sp>
        <p:nvSpPr>
          <p:cNvPr id="6" name="Text 4"/>
          <p:cNvSpPr/>
          <p:nvPr/>
        </p:nvSpPr>
        <p:spPr>
          <a:xfrm>
            <a:off x="548640" y="1298448"/>
            <a:ext cx="3566160" cy="685800"/>
          </a:xfrm>
          <a:prstGeom prst="rect">
            <a:avLst/>
          </a:prstGeom>
          <a:noFill/>
          <a:ln/>
        </p:spPr>
        <p:txBody>
          <a:bodyPr wrap="square" rtlCol="0" anchor="ctr"/>
          <a:lstStyle/>
          <a:p>
            <a:pPr algn="ctr" indent="0" marL="0">
              <a:buNone/>
            </a:pPr>
            <a:r>
              <a:rPr lang="en-US" sz="3400" b="1" dirty="0">
                <a:solidFill>
                  <a:srgbClr val="1F4E5F"/>
                </a:solidFill>
              </a:rPr>
              <a:t>45+ Mrd. €</a:t>
            </a:r>
            <a:endParaRPr lang="en-US" sz="3400" dirty="0"/>
          </a:p>
        </p:txBody>
      </p:sp>
      <p:sp>
        <p:nvSpPr>
          <p:cNvPr id="7" name="Text 5"/>
          <p:cNvSpPr/>
          <p:nvPr/>
        </p:nvSpPr>
        <p:spPr>
          <a:xfrm>
            <a:off x="640080" y="2029968"/>
            <a:ext cx="3383280" cy="502920"/>
          </a:xfrm>
          <a:prstGeom prst="rect">
            <a:avLst/>
          </a:prstGeom>
          <a:noFill/>
          <a:ln/>
        </p:spPr>
        <p:txBody>
          <a:bodyPr wrap="square" rtlCol="0" anchor="ctr"/>
          <a:lstStyle/>
          <a:p>
            <a:pPr algn="ctr" indent="0" marL="0">
              <a:buNone/>
            </a:pPr>
            <a:r>
              <a:rPr lang="en-US" sz="1200" dirty="0">
                <a:solidFill>
                  <a:srgbClr val="333333"/>
                </a:solidFill>
              </a:rPr>
              <a:t>öffentliche Mittel pro Jahr – BA, Jobcenter, DRV, BAMF, Kommunen, Kassen</a:t>
            </a:r>
            <a:endParaRPr lang="en-US" sz="1200" dirty="0"/>
          </a:p>
        </p:txBody>
      </p:sp>
      <p:sp>
        <p:nvSpPr>
          <p:cNvPr id="8" name="Shape 6"/>
          <p:cNvSpPr/>
          <p:nvPr/>
        </p:nvSpPr>
        <p:spPr>
          <a:xfrm>
            <a:off x="4315968" y="1188720"/>
            <a:ext cx="3566160" cy="1417320"/>
          </a:xfrm>
          <a:prstGeom prst="roundRect">
            <a:avLst>
              <a:gd name="adj" fmla="val 5161"/>
            </a:avLst>
          </a:prstGeom>
          <a:solidFill>
            <a:srgbClr val="EDF4F6"/>
          </a:solidFill>
          <a:ln w="6350">
            <a:solidFill>
              <a:srgbClr val="DDDDDD"/>
            </a:solidFill>
            <a:prstDash val="solid"/>
          </a:ln>
        </p:spPr>
      </p:sp>
      <p:sp>
        <p:nvSpPr>
          <p:cNvPr id="9" name="Text 7"/>
          <p:cNvSpPr/>
          <p:nvPr/>
        </p:nvSpPr>
        <p:spPr>
          <a:xfrm>
            <a:off x="4315968" y="1298448"/>
            <a:ext cx="3566160" cy="685800"/>
          </a:xfrm>
          <a:prstGeom prst="rect">
            <a:avLst/>
          </a:prstGeom>
          <a:noFill/>
          <a:ln/>
        </p:spPr>
        <p:txBody>
          <a:bodyPr wrap="square" rtlCol="0" anchor="ctr"/>
          <a:lstStyle/>
          <a:p>
            <a:pPr algn="ctr" indent="0" marL="0">
              <a:buNone/>
            </a:pPr>
            <a:r>
              <a:rPr lang="en-US" sz="3400" b="1" dirty="0">
                <a:solidFill>
                  <a:srgbClr val="A33333"/>
                </a:solidFill>
              </a:rPr>
              <a:t>55 % vs. 70 %</a:t>
            </a:r>
            <a:endParaRPr lang="en-US" sz="3400" dirty="0"/>
          </a:p>
        </p:txBody>
      </p:sp>
      <p:sp>
        <p:nvSpPr>
          <p:cNvPr id="10" name="Text 8"/>
          <p:cNvSpPr/>
          <p:nvPr/>
        </p:nvSpPr>
        <p:spPr>
          <a:xfrm>
            <a:off x="4407408" y="2029968"/>
            <a:ext cx="3383280" cy="502920"/>
          </a:xfrm>
          <a:prstGeom prst="rect">
            <a:avLst/>
          </a:prstGeom>
          <a:noFill/>
          <a:ln/>
        </p:spPr>
        <p:txBody>
          <a:bodyPr wrap="square" rtlCol="0" anchor="ctr"/>
          <a:lstStyle/>
          <a:p>
            <a:pPr algn="ctr" indent="0" marL="0">
              <a:buNone/>
            </a:pPr>
            <a:r>
              <a:rPr lang="en-US" sz="1200" dirty="0">
                <a:solidFill>
                  <a:srgbClr val="333333"/>
                </a:solidFill>
              </a:rPr>
              <a:t>Personalaufwandsquote: PE-geführte vs. gemeinnützige Träger (Böckler) – die Differenz fehlt am Menschen</a:t>
            </a:r>
            <a:endParaRPr lang="en-US" sz="1200" dirty="0"/>
          </a:p>
        </p:txBody>
      </p:sp>
      <p:sp>
        <p:nvSpPr>
          <p:cNvPr id="11" name="Shape 9"/>
          <p:cNvSpPr/>
          <p:nvPr/>
        </p:nvSpPr>
        <p:spPr>
          <a:xfrm>
            <a:off x="8083296" y="1188720"/>
            <a:ext cx="3566160" cy="1417320"/>
          </a:xfrm>
          <a:prstGeom prst="roundRect">
            <a:avLst>
              <a:gd name="adj" fmla="val 5161"/>
            </a:avLst>
          </a:prstGeom>
          <a:solidFill>
            <a:srgbClr val="EDF4F6"/>
          </a:solidFill>
          <a:ln w="6350">
            <a:solidFill>
              <a:srgbClr val="DDDDDD"/>
            </a:solidFill>
            <a:prstDash val="solid"/>
          </a:ln>
        </p:spPr>
      </p:sp>
      <p:sp>
        <p:nvSpPr>
          <p:cNvPr id="12" name="Text 10"/>
          <p:cNvSpPr/>
          <p:nvPr/>
        </p:nvSpPr>
        <p:spPr>
          <a:xfrm>
            <a:off x="8083296" y="1298448"/>
            <a:ext cx="3566160" cy="685800"/>
          </a:xfrm>
          <a:prstGeom prst="rect">
            <a:avLst/>
          </a:prstGeom>
          <a:noFill/>
          <a:ln/>
        </p:spPr>
        <p:txBody>
          <a:bodyPr wrap="square" rtlCol="0" anchor="ctr"/>
          <a:lstStyle/>
          <a:p>
            <a:pPr algn="ctr" indent="0" marL="0">
              <a:buNone/>
            </a:pPr>
            <a:r>
              <a:rPr lang="en-US" sz="3400" b="1" dirty="0">
                <a:solidFill>
                  <a:srgbClr val="8A6D1A"/>
                </a:solidFill>
              </a:rPr>
              <a:t>853 Mio. €</a:t>
            </a:r>
            <a:endParaRPr lang="en-US" sz="3400" dirty="0"/>
          </a:p>
        </p:txBody>
      </p:sp>
      <p:sp>
        <p:nvSpPr>
          <p:cNvPr id="13" name="Text 11"/>
          <p:cNvSpPr/>
          <p:nvPr/>
        </p:nvSpPr>
        <p:spPr>
          <a:xfrm>
            <a:off x="8174736" y="2029968"/>
            <a:ext cx="3383280" cy="502920"/>
          </a:xfrm>
          <a:prstGeom prst="rect">
            <a:avLst/>
          </a:prstGeom>
          <a:noFill/>
          <a:ln/>
        </p:spPr>
        <p:txBody>
          <a:bodyPr wrap="square" rtlCol="0" anchor="ctr"/>
          <a:lstStyle/>
          <a:p>
            <a:pPr algn="ctr" indent="0" marL="0">
              <a:buNone/>
            </a:pPr>
            <a:r>
              <a:rPr lang="en-US" sz="1200" dirty="0">
                <a:solidFill>
                  <a:srgbClr val="333333"/>
                </a:solidFill>
              </a:rPr>
              <a:t>VAMED-Reha-Verkauf an PAI Partners: Einrichtungen als Investmentware</a:t>
            </a:r>
            <a:endParaRPr lang="en-US" sz="1200" dirty="0"/>
          </a:p>
        </p:txBody>
      </p:sp>
      <p:sp>
        <p:nvSpPr>
          <p:cNvPr id="14" name="Text 12"/>
          <p:cNvSpPr/>
          <p:nvPr/>
        </p:nvSpPr>
        <p:spPr>
          <a:xfrm>
            <a:off x="548640" y="2926080"/>
            <a:ext cx="11091672" cy="3108960"/>
          </a:xfrm>
          <a:prstGeom prst="rect">
            <a:avLst/>
          </a:prstGeom>
          <a:noFill/>
          <a:ln/>
        </p:spPr>
        <p:txBody>
          <a:bodyPr wrap="square" rtlCol="0" anchor="t"/>
          <a:lstStyle/>
          <a:p>
            <a:pPr indent="0" marL="0">
              <a:spcAft>
                <a:spcPts val="1000"/>
              </a:spcAft>
              <a:buNone/>
            </a:pPr>
            <a:r>
              <a:rPr lang="en-US" sz="1500" b="1" dirty="0">
                <a:solidFill>
                  <a:srgbClr val="222222"/>
                </a:solidFill>
              </a:rPr>
              <a:t>Wasserkopf-Verwaltung: </a:t>
            </a:r>
            <a:pPr indent="0" marL="0">
              <a:spcAft>
                <a:spcPts val="1000"/>
              </a:spcAft>
              <a:buNone/>
            </a:pPr>
            <a:r>
              <a:rPr lang="en-US" sz="1500" dirty="0">
                <a:solidFill>
                  <a:srgbClr val="222222"/>
                </a:solidFill>
              </a:rPr>
              <a:t>Gewachsene Großträger finanzieren mehrstufige Leitungsebenen, Zentralen, Fahrzeugflotten und Stabsabteilungen aus gedeckelten Kostensätzen – und geraten unter Preisdruck aus Losen.</a:t>
            </a:r>
            <a:endParaRPr lang="en-US" sz="1500" dirty="0"/>
          </a:p>
          <a:p>
            <a:pPr indent="0" marL="0">
              <a:spcAft>
                <a:spcPts val="1000"/>
              </a:spcAft>
              <a:buNone/>
            </a:pPr>
            <a:r>
              <a:rPr lang="en-US" sz="1500" b="1" dirty="0">
                <a:solidFill>
                  <a:srgbClr val="222222"/>
                </a:solidFill>
              </a:rPr>
              <a:t>Finanzialisierung: </a:t>
            </a:r>
            <a:pPr indent="0" marL="0">
              <a:spcAft>
                <a:spcPts val="1000"/>
              </a:spcAft>
              <a:buNone/>
            </a:pPr>
            <a:r>
              <a:rPr lang="en-US" sz="1500" dirty="0">
                <a:solidFill>
                  <a:srgbClr val="222222"/>
                </a:solidFill>
              </a:rPr>
              <a:t>Reha, Pflege und zunehmend Bildung werden zwischen Fonds weitergereicht; saniert wird am Personal, das am Teilnehmer arbeitet.</a:t>
            </a:r>
            <a:endParaRPr lang="en-US" sz="1500" dirty="0"/>
          </a:p>
          <a:p>
            <a:pPr indent="0" marL="0">
              <a:spcAft>
                <a:spcPts val="1000"/>
              </a:spcAft>
              <a:buNone/>
            </a:pPr>
            <a:r>
              <a:rPr lang="en-US" sz="1500" b="1" dirty="0">
                <a:solidFill>
                  <a:srgbClr val="222222"/>
                </a:solidFill>
              </a:rPr>
              <a:t>Blindflug der Kostenträger: </a:t>
            </a:r>
            <a:pPr indent="0" marL="0">
              <a:spcAft>
                <a:spcPts val="1000"/>
              </a:spcAft>
              <a:buNone/>
            </a:pPr>
            <a:r>
              <a:rPr lang="en-US" sz="1500" dirty="0">
                <a:solidFill>
                  <a:srgbClr val="222222"/>
                </a:solidFill>
              </a:rPr>
              <a:t>Kostenträger sehen Quartalsberichte statt Realität – Maßnahmen, die nur auf dem Papier wirken, fallen erst nach Jahren auf.</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3000" b="1" dirty="0">
                <a:solidFill>
                  <a:srgbClr val="1F4E5F"/>
                </a:solidFill>
                <a:latin typeface="Calibri" pitchFamily="34" charset="0"/>
                <a:ea typeface="Calibri" pitchFamily="34" charset="-122"/>
                <a:cs typeface="Calibri" pitchFamily="34" charset="-120"/>
              </a:rPr>
              <a:t>Die Lösung: ein Träger ohne Verwaltungsapparat – mit offenen Büchern</a:t>
            </a:r>
            <a:endParaRPr lang="en-US" sz="3000" dirty="0"/>
          </a:p>
        </p:txBody>
      </p:sp>
      <p:sp>
        <p:nvSpPr>
          <p:cNvPr id="3" name="Text 1"/>
          <p:cNvSpPr/>
          <p:nvPr/>
        </p:nvSpPr>
        <p:spPr>
          <a:xfrm>
            <a:off x="548640" y="6473952"/>
            <a:ext cx="7315200" cy="274320"/>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KAȲȲA (Arbeitstitel) · Investorenpräsentation · vertraulich</a:t>
            </a:r>
            <a:endParaRPr lang="en-US" sz="900" dirty="0"/>
          </a:p>
        </p:txBody>
      </p:sp>
      <p:sp>
        <p:nvSpPr>
          <p:cNvPr id="4" name="Text 2"/>
          <p:cNvSpPr/>
          <p:nvPr/>
        </p:nvSpPr>
        <p:spPr>
          <a:xfrm>
            <a:off x="11274552" y="6473952"/>
            <a:ext cx="365760" cy="274320"/>
          </a:xfrm>
          <a:prstGeom prst="rect">
            <a:avLst/>
          </a:prstGeom>
          <a:noFill/>
          <a:ln/>
        </p:spPr>
        <p:txBody>
          <a:bodyPr wrap="square" rtlCol="0" anchor="ctr"/>
          <a:lstStyle/>
          <a:p>
            <a:pPr algn="r" indent="0" marL="0">
              <a:buNone/>
            </a:pPr>
            <a:r>
              <a:rPr lang="en-US" sz="900" dirty="0">
                <a:solidFill>
                  <a:srgbClr val="666666"/>
                </a:solidFill>
              </a:rPr>
              <a:t>4</a:t>
            </a:r>
            <a:endParaRPr lang="en-US" sz="900" dirty="0"/>
          </a:p>
        </p:txBody>
      </p:sp>
      <p:sp>
        <p:nvSpPr>
          <p:cNvPr id="5" name="Shape 3"/>
          <p:cNvSpPr/>
          <p:nvPr/>
        </p:nvSpPr>
        <p:spPr>
          <a:xfrm>
            <a:off x="548640" y="1234440"/>
            <a:ext cx="3566160" cy="4206240"/>
          </a:xfrm>
          <a:prstGeom prst="roundRect">
            <a:avLst>
              <a:gd name="adj" fmla="val 2051"/>
            </a:avLst>
          </a:prstGeom>
          <a:solidFill>
            <a:srgbClr val="EDF4F6"/>
          </a:solidFill>
          <a:ln w="6350">
            <a:solidFill>
              <a:srgbClr val="DDDDDD"/>
            </a:solidFill>
            <a:prstDash val="solid"/>
          </a:ln>
        </p:spPr>
      </p:sp>
      <p:sp>
        <p:nvSpPr>
          <p:cNvPr id="6" name="Text 4"/>
          <p:cNvSpPr/>
          <p:nvPr/>
        </p:nvSpPr>
        <p:spPr>
          <a:xfrm>
            <a:off x="777240" y="1463040"/>
            <a:ext cx="548640" cy="548640"/>
          </a:xfrm>
          <a:prstGeom prst="rect">
            <a:avLst/>
          </a:prstGeom>
          <a:noFill/>
          <a:ln/>
        </p:spPr>
        <p:txBody>
          <a:bodyPr wrap="square" rtlCol="0" anchor="ctr"/>
          <a:lstStyle/>
          <a:p>
            <a:pPr indent="0" marL="0">
              <a:buNone/>
            </a:pPr>
            <a:r>
              <a:rPr lang="en-US" sz="2800" b="1" dirty="0">
                <a:solidFill>
                  <a:srgbClr val="1F4E5F"/>
                </a:solidFill>
              </a:rPr>
              <a:t>1</a:t>
            </a:r>
            <a:endParaRPr lang="en-US" sz="2800" dirty="0"/>
          </a:p>
        </p:txBody>
      </p:sp>
      <p:sp>
        <p:nvSpPr>
          <p:cNvPr id="7" name="Text 5"/>
          <p:cNvSpPr/>
          <p:nvPr/>
        </p:nvSpPr>
        <p:spPr>
          <a:xfrm>
            <a:off x="777240" y="2057400"/>
            <a:ext cx="3108960" cy="822960"/>
          </a:xfrm>
          <a:prstGeom prst="rect">
            <a:avLst/>
          </a:prstGeom>
          <a:noFill/>
          <a:ln/>
        </p:spPr>
        <p:txBody>
          <a:bodyPr wrap="square" rtlCol="0" anchor="ctr"/>
          <a:lstStyle/>
          <a:p>
            <a:pPr indent="0" marL="0">
              <a:buNone/>
            </a:pPr>
            <a:r>
              <a:rPr lang="en-US" sz="1700" b="1" dirty="0">
                <a:solidFill>
                  <a:srgbClr val="1F4E5F"/>
                </a:solidFill>
              </a:rPr>
              <a:t>Gemeinnützige Struktur</a:t>
            </a:r>
            <a:endParaRPr lang="en-US" sz="1700" dirty="0"/>
          </a:p>
        </p:txBody>
      </p:sp>
      <p:sp>
        <p:nvSpPr>
          <p:cNvPr id="8" name="Text 6"/>
          <p:cNvSpPr/>
          <p:nvPr/>
        </p:nvSpPr>
        <p:spPr>
          <a:xfrm>
            <a:off x="777240" y="2880360"/>
            <a:ext cx="3108960" cy="2377440"/>
          </a:xfrm>
          <a:prstGeom prst="rect">
            <a:avLst/>
          </a:prstGeom>
          <a:noFill/>
          <a:ln/>
        </p:spPr>
        <p:txBody>
          <a:bodyPr wrap="square" rtlCol="0" anchor="t"/>
          <a:lstStyle/>
          <a:p>
            <a:pPr indent="0" marL="0">
              <a:buNone/>
            </a:pPr>
            <a:r>
              <a:rPr lang="en-US" sz="1300" dirty="0">
                <a:solidFill>
                  <a:srgbClr val="333333"/>
                </a:solidFill>
              </a:rPr>
              <a:t>gGmbH ohne Ausschüttung und ohne Exit-Logik: Effizienzgewinne fließen in Preise, Gehälter und Betreuung – nicht in einen Fonds. Zugang zu Spenden, Stiftungen und Programmen, die Gewerblichen verschlossen sind.</a:t>
            </a:r>
            <a:endParaRPr lang="en-US" sz="1300" dirty="0"/>
          </a:p>
        </p:txBody>
      </p:sp>
      <p:sp>
        <p:nvSpPr>
          <p:cNvPr id="9" name="Shape 7"/>
          <p:cNvSpPr/>
          <p:nvPr/>
        </p:nvSpPr>
        <p:spPr>
          <a:xfrm>
            <a:off x="4315968" y="1234440"/>
            <a:ext cx="3566160" cy="4206240"/>
          </a:xfrm>
          <a:prstGeom prst="roundRect">
            <a:avLst>
              <a:gd name="adj" fmla="val 2051"/>
            </a:avLst>
          </a:prstGeom>
          <a:solidFill>
            <a:srgbClr val="1F4E5F"/>
          </a:solidFill>
          <a:ln w="6350">
            <a:solidFill>
              <a:srgbClr val="DDDDDD"/>
            </a:solidFill>
            <a:prstDash val="solid"/>
          </a:ln>
        </p:spPr>
      </p:sp>
      <p:sp>
        <p:nvSpPr>
          <p:cNvPr id="10" name="Text 8"/>
          <p:cNvSpPr/>
          <p:nvPr/>
        </p:nvSpPr>
        <p:spPr>
          <a:xfrm>
            <a:off x="4544568" y="1463040"/>
            <a:ext cx="548640" cy="548640"/>
          </a:xfrm>
          <a:prstGeom prst="rect">
            <a:avLst/>
          </a:prstGeom>
          <a:noFill/>
          <a:ln/>
        </p:spPr>
        <p:txBody>
          <a:bodyPr wrap="square" rtlCol="0" anchor="ctr"/>
          <a:lstStyle/>
          <a:p>
            <a:pPr indent="0" marL="0">
              <a:buNone/>
            </a:pPr>
            <a:r>
              <a:rPr lang="en-US" sz="2800" b="1" dirty="0">
                <a:solidFill>
                  <a:srgbClr val="FFFFFF"/>
                </a:solidFill>
              </a:rPr>
              <a:t>2</a:t>
            </a:r>
            <a:endParaRPr lang="en-US" sz="2800" dirty="0"/>
          </a:p>
        </p:txBody>
      </p:sp>
      <p:sp>
        <p:nvSpPr>
          <p:cNvPr id="11" name="Text 9"/>
          <p:cNvSpPr/>
          <p:nvPr/>
        </p:nvSpPr>
        <p:spPr>
          <a:xfrm>
            <a:off x="4544568" y="2057400"/>
            <a:ext cx="3108960" cy="822960"/>
          </a:xfrm>
          <a:prstGeom prst="rect">
            <a:avLst/>
          </a:prstGeom>
          <a:noFill/>
          <a:ln/>
        </p:spPr>
        <p:txBody>
          <a:bodyPr wrap="square" rtlCol="0" anchor="ctr"/>
          <a:lstStyle/>
          <a:p>
            <a:pPr indent="0" marL="0">
              <a:buNone/>
            </a:pPr>
            <a:r>
              <a:rPr lang="en-US" sz="1700" b="1" dirty="0">
                <a:solidFill>
                  <a:srgbClr val="FFFFFF"/>
                </a:solidFill>
              </a:rPr>
              <a:t>KAȲȲA OS – die KI-Verwaltungsschicht</a:t>
            </a:r>
            <a:endParaRPr lang="en-US" sz="1700" dirty="0"/>
          </a:p>
        </p:txBody>
      </p:sp>
      <p:sp>
        <p:nvSpPr>
          <p:cNvPr id="12" name="Text 10"/>
          <p:cNvSpPr/>
          <p:nvPr/>
        </p:nvSpPr>
        <p:spPr>
          <a:xfrm>
            <a:off x="4544568" y="2880360"/>
            <a:ext cx="3108960" cy="2377440"/>
          </a:xfrm>
          <a:prstGeom prst="rect">
            <a:avLst/>
          </a:prstGeom>
          <a:noFill/>
          <a:ln/>
        </p:spPr>
        <p:txBody>
          <a:bodyPr wrap="square" rtlCol="0" anchor="t"/>
          <a:lstStyle/>
          <a:p>
            <a:pPr indent="0" marL="0">
              <a:buNone/>
            </a:pPr>
            <a:r>
              <a:rPr lang="en-US" sz="1300" dirty="0">
                <a:solidFill>
                  <a:srgbClr val="E8F0F2"/>
                </a:solidFill>
              </a:rPr>
              <a:t>Eine Plattform ersetzt die Fachabteilungen: Antwortschreiben, Buchhaltung, Berichte, Vergabeangebote und Rentabilitätskontrolle als KI-Entwurf mit menschlicher Freigabe. Verwaltungsquote unter 10 % – sinkend mit dem Wachstum.</a:t>
            </a:r>
            <a:endParaRPr lang="en-US" sz="1300" dirty="0"/>
          </a:p>
        </p:txBody>
      </p:sp>
      <p:sp>
        <p:nvSpPr>
          <p:cNvPr id="13" name="Shape 11"/>
          <p:cNvSpPr/>
          <p:nvPr/>
        </p:nvSpPr>
        <p:spPr>
          <a:xfrm>
            <a:off x="8083296" y="1234440"/>
            <a:ext cx="3566160" cy="4206240"/>
          </a:xfrm>
          <a:prstGeom prst="roundRect">
            <a:avLst>
              <a:gd name="adj" fmla="val 2051"/>
            </a:avLst>
          </a:prstGeom>
          <a:solidFill>
            <a:srgbClr val="EDF4F6"/>
          </a:solidFill>
          <a:ln w="6350">
            <a:solidFill>
              <a:srgbClr val="DDDDDD"/>
            </a:solidFill>
            <a:prstDash val="solid"/>
          </a:ln>
        </p:spPr>
      </p:sp>
      <p:sp>
        <p:nvSpPr>
          <p:cNvPr id="14" name="Text 12"/>
          <p:cNvSpPr/>
          <p:nvPr/>
        </p:nvSpPr>
        <p:spPr>
          <a:xfrm>
            <a:off x="8311896" y="1463040"/>
            <a:ext cx="548640" cy="548640"/>
          </a:xfrm>
          <a:prstGeom prst="rect">
            <a:avLst/>
          </a:prstGeom>
          <a:noFill/>
          <a:ln/>
        </p:spPr>
        <p:txBody>
          <a:bodyPr wrap="square" rtlCol="0" anchor="ctr"/>
          <a:lstStyle/>
          <a:p>
            <a:pPr indent="0" marL="0">
              <a:buNone/>
            </a:pPr>
            <a:r>
              <a:rPr lang="en-US" sz="2800" b="1" dirty="0">
                <a:solidFill>
                  <a:srgbClr val="1F4E5F"/>
                </a:solidFill>
              </a:rPr>
              <a:t>3</a:t>
            </a:r>
            <a:endParaRPr lang="en-US" sz="2800" dirty="0"/>
          </a:p>
        </p:txBody>
      </p:sp>
      <p:sp>
        <p:nvSpPr>
          <p:cNvPr id="15" name="Text 13"/>
          <p:cNvSpPr/>
          <p:nvPr/>
        </p:nvSpPr>
        <p:spPr>
          <a:xfrm>
            <a:off x="8311896" y="2057400"/>
            <a:ext cx="3108960" cy="822960"/>
          </a:xfrm>
          <a:prstGeom prst="rect">
            <a:avLst/>
          </a:prstGeom>
          <a:noFill/>
          <a:ln/>
        </p:spPr>
        <p:txBody>
          <a:bodyPr wrap="square" rtlCol="0" anchor="ctr"/>
          <a:lstStyle/>
          <a:p>
            <a:pPr indent="0" marL="0">
              <a:buNone/>
            </a:pPr>
            <a:r>
              <a:rPr lang="en-US" sz="1700" b="1" dirty="0">
                <a:solidFill>
                  <a:srgbClr val="1F4E5F"/>
                </a:solidFill>
              </a:rPr>
              <a:t>Radikale Transparenz</a:t>
            </a:r>
            <a:endParaRPr lang="en-US" sz="1700" dirty="0"/>
          </a:p>
        </p:txBody>
      </p:sp>
      <p:sp>
        <p:nvSpPr>
          <p:cNvPr id="16" name="Text 14"/>
          <p:cNvSpPr/>
          <p:nvPr/>
        </p:nvSpPr>
        <p:spPr>
          <a:xfrm>
            <a:off x="8311896" y="2880360"/>
            <a:ext cx="3108960" cy="2377440"/>
          </a:xfrm>
          <a:prstGeom prst="rect">
            <a:avLst/>
          </a:prstGeom>
          <a:noFill/>
          <a:ln/>
        </p:spPr>
        <p:txBody>
          <a:bodyPr wrap="square" rtlCol="0" anchor="t"/>
          <a:lstStyle/>
          <a:p>
            <a:pPr indent="0" marL="0">
              <a:buNone/>
            </a:pPr>
            <a:r>
              <a:rPr lang="en-US" sz="1300" dirty="0">
                <a:solidFill>
                  <a:srgbClr val="333333"/>
                </a:solidFill>
              </a:rPr>
              <a:t>Jeder Kostenträger erhält ein Echtzeit-Dashboard bis zur einzelnen Kostenposition; Zeugnisse und Reports sind digital gesiegelt und online validierbar. Transparenz ist hier kein Pflichtprogramm, sondern das Produkt.</a:t>
            </a:r>
            <a:endParaRPr lang="en-US" sz="1300" dirty="0"/>
          </a:p>
        </p:txBody>
      </p:sp>
      <p:sp>
        <p:nvSpPr>
          <p:cNvPr id="17" name="Text 15"/>
          <p:cNvSpPr/>
          <p:nvPr/>
        </p:nvSpPr>
        <p:spPr>
          <a:xfrm>
            <a:off x="548640" y="5623560"/>
            <a:ext cx="11091672" cy="548640"/>
          </a:xfrm>
          <a:prstGeom prst="rect">
            <a:avLst/>
          </a:prstGeom>
          <a:noFill/>
          <a:ln/>
        </p:spPr>
        <p:txBody>
          <a:bodyPr wrap="square" rtlCol="0" anchor="ctr"/>
          <a:lstStyle/>
          <a:p>
            <a:pPr indent="0" marL="0">
              <a:buNone/>
            </a:pPr>
            <a:r>
              <a:rPr lang="en-US" sz="1400" i="1" dirty="0">
                <a:solidFill>
                  <a:srgbClr val="1F4E5F"/>
                </a:solidFill>
              </a:rPr>
              <a:t>Der Vorteil ist strukturell: Bestandsträger können ihre Apparate nicht gegen sich selbst wegdigitalisieren – eine Neugründung baut sie gar nicht erst auf.</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3000" b="1" dirty="0">
                <a:solidFill>
                  <a:srgbClr val="1F4E5F"/>
                </a:solidFill>
                <a:latin typeface="Calibri" pitchFamily="34" charset="0"/>
                <a:ea typeface="Calibri" pitchFamily="34" charset="-122"/>
                <a:cs typeface="Calibri" pitchFamily="34" charset="-120"/>
              </a:rPr>
              <a:t>KAȲȲA OS: Das Dashboard, mit dem wir Ausschreibungen gewinnen</a:t>
            </a:r>
            <a:endParaRPr lang="en-US" sz="3000" dirty="0"/>
          </a:p>
        </p:txBody>
      </p:sp>
      <p:sp>
        <p:nvSpPr>
          <p:cNvPr id="3" name="Text 1"/>
          <p:cNvSpPr/>
          <p:nvPr/>
        </p:nvSpPr>
        <p:spPr>
          <a:xfrm>
            <a:off x="548640" y="6473952"/>
            <a:ext cx="7315200" cy="274320"/>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KAȲȲA (Arbeitstitel) · Investorenpräsentation · vertraulich</a:t>
            </a:r>
            <a:endParaRPr lang="en-US" sz="900" dirty="0"/>
          </a:p>
        </p:txBody>
      </p:sp>
      <p:sp>
        <p:nvSpPr>
          <p:cNvPr id="4" name="Text 2"/>
          <p:cNvSpPr/>
          <p:nvPr/>
        </p:nvSpPr>
        <p:spPr>
          <a:xfrm>
            <a:off x="11274552" y="6473952"/>
            <a:ext cx="365760" cy="274320"/>
          </a:xfrm>
          <a:prstGeom prst="rect">
            <a:avLst/>
          </a:prstGeom>
          <a:noFill/>
          <a:ln/>
        </p:spPr>
        <p:txBody>
          <a:bodyPr wrap="square" rtlCol="0" anchor="ctr"/>
          <a:lstStyle/>
          <a:p>
            <a:pPr algn="r" indent="0" marL="0">
              <a:buNone/>
            </a:pPr>
            <a:r>
              <a:rPr lang="en-US" sz="900" dirty="0">
                <a:solidFill>
                  <a:srgbClr val="666666"/>
                </a:solidFill>
              </a:rPr>
              <a:t>5</a:t>
            </a:r>
            <a:endParaRPr lang="en-US" sz="900" dirty="0"/>
          </a:p>
        </p:txBody>
      </p:sp>
      <p:pic>
        <p:nvPicPr>
          <p:cNvPr id="5" name="Image 0" descr="lh/m1.png">    </p:cNvPr>
          <p:cNvPicPr>
            <a:picLocks noChangeAspect="1"/>
          </p:cNvPicPr>
          <p:nvPr/>
        </p:nvPicPr>
        <p:blipFill>
          <a:blip r:embed="rId1"/>
          <a:stretch>
            <a:fillRect/>
          </a:stretch>
        </p:blipFill>
        <p:spPr>
          <a:xfrm>
            <a:off x="548640" y="1234440"/>
            <a:ext cx="6766560" cy="4334256"/>
          </a:xfrm>
          <a:prstGeom prst="rect">
            <a:avLst/>
          </a:prstGeom>
        </p:spPr>
      </p:pic>
      <p:sp>
        <p:nvSpPr>
          <p:cNvPr id="6" name="Text 3"/>
          <p:cNvSpPr/>
          <p:nvPr/>
        </p:nvSpPr>
        <p:spPr>
          <a:xfrm>
            <a:off x="7589520" y="1325880"/>
            <a:ext cx="4069080" cy="4389120"/>
          </a:xfrm>
          <a:prstGeom prst="rect">
            <a:avLst/>
          </a:prstGeom>
          <a:noFill/>
          <a:ln/>
        </p:spPr>
        <p:txBody>
          <a:bodyPr wrap="square" rtlCol="0" anchor="t"/>
          <a:lstStyle/>
          <a:p>
            <a:pPr indent="0" marL="0">
              <a:spcAft>
                <a:spcPts val="1000"/>
              </a:spcAft>
              <a:buNone/>
            </a:pPr>
            <a:r>
              <a:rPr lang="en-US" sz="1350" b="1" dirty="0">
                <a:solidFill>
                  <a:srgbClr val="222222"/>
                </a:solidFill>
              </a:rPr>
              <a:t>Echtzeit statt Quartalsbericht: </a:t>
            </a:r>
            <a:pPr indent="0" marL="0">
              <a:spcAft>
                <a:spcPts val="1000"/>
              </a:spcAft>
              <a:buNone/>
            </a:pPr>
            <a:r>
              <a:rPr lang="en-US" sz="1350" dirty="0">
                <a:solidFill>
                  <a:srgbClr val="222222"/>
                </a:solidFill>
              </a:rPr>
              <a:t>Anwesenheit, Erfolgsquoten, Kosten je Eingliederung – tagesaktuell.</a:t>
            </a:r>
            <a:endParaRPr lang="en-US" sz="1350" dirty="0"/>
          </a:p>
          <a:p>
            <a:pPr indent="0" marL="0">
              <a:spcAft>
                <a:spcPts val="1000"/>
              </a:spcAft>
              <a:buNone/>
            </a:pPr>
            <a:r>
              <a:rPr lang="en-US" sz="1350" b="1" dirty="0">
                <a:solidFill>
                  <a:srgbClr val="222222"/>
                </a:solidFill>
              </a:rPr>
              <a:t>Belegkette per Klick: </a:t>
            </a:r>
            <a:pPr indent="0" marL="0">
              <a:spcAft>
                <a:spcPts val="1000"/>
              </a:spcAft>
              <a:buNone/>
            </a:pPr>
            <a:r>
              <a:rPr lang="en-US" sz="1350" dirty="0">
                <a:solidFill>
                  <a:srgbClr val="222222"/>
                </a:solidFill>
              </a:rPr>
              <a:t>jede Kennzahl rückverfolgbar bis zur einzelnen Dozentenstunde.</a:t>
            </a:r>
            <a:endParaRPr lang="en-US" sz="1350" dirty="0"/>
          </a:p>
          <a:p>
            <a:pPr indent="0" marL="0">
              <a:spcAft>
                <a:spcPts val="1000"/>
              </a:spcAft>
              <a:buNone/>
            </a:pPr>
            <a:r>
              <a:rPr lang="en-US" sz="1350" b="1" dirty="0">
                <a:solidFill>
                  <a:srgbClr val="222222"/>
                </a:solidFill>
              </a:rPr>
              <a:t>Pflichtprozesse automatisiert: </a:t>
            </a:r>
            <a:pPr indent="0" marL="0">
              <a:spcAft>
                <a:spcPts val="1000"/>
              </a:spcAft>
              <a:buNone/>
            </a:pPr>
            <a:r>
              <a:rPr lang="en-US" sz="1350" dirty="0">
                <a:solidFill>
                  <a:srgbClr val="222222"/>
                </a:solidFill>
              </a:rPr>
              <a:t>eM@w-Meldungen, Abrechnungen, Audit-Unterlagen auf Knopfdruck.</a:t>
            </a:r>
            <a:endParaRPr lang="en-US" sz="1350" dirty="0"/>
          </a:p>
          <a:p>
            <a:pPr indent="0" marL="0">
              <a:spcAft>
                <a:spcPts val="1000"/>
              </a:spcAft>
              <a:buNone/>
            </a:pPr>
            <a:r>
              <a:rPr lang="en-US" sz="1350" b="1" dirty="0">
                <a:solidFill>
                  <a:srgbClr val="222222"/>
                </a:solidFill>
              </a:rPr>
              <a:t>Fälschungssichere Nachweise: </a:t>
            </a:r>
            <a:pPr indent="0" marL="0">
              <a:spcAft>
                <a:spcPts val="1000"/>
              </a:spcAft>
              <a:buNone/>
            </a:pPr>
            <a:r>
              <a:rPr lang="en-US" sz="1350" dirty="0">
                <a:solidFill>
                  <a:srgbClr val="222222"/>
                </a:solidFill>
              </a:rPr>
              <a:t>Zeugnisse digital gesiegelt, lebenslang online validierbar.</a:t>
            </a:r>
            <a:endParaRPr lang="en-US" sz="1350" dirty="0"/>
          </a:p>
          <a:p>
            <a:pPr indent="0" marL="0">
              <a:spcAft>
                <a:spcPts val="1000"/>
              </a:spcAft>
              <a:buNone/>
            </a:pPr>
            <a:r>
              <a:rPr lang="en-US" sz="1350" b="1" dirty="0">
                <a:solidFill>
                  <a:srgbClr val="222222"/>
                </a:solidFill>
              </a:rPr>
              <a:t>Lastenheft liegt vor: </a:t>
            </a:r>
            <a:pPr indent="0" marL="0">
              <a:spcAft>
                <a:spcPts val="1000"/>
              </a:spcAft>
              <a:buNone/>
            </a:pPr>
            <a:r>
              <a:rPr lang="en-US" sz="1350" dirty="0">
                <a:solidFill>
                  <a:srgbClr val="222222"/>
                </a:solidFill>
              </a:rPr>
              <a:t>100+ Anforderungen, ausschreibungsfähig – Entwicklung 0,9–1,4 Mio. € in 3 Stufen.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3000" b="1" dirty="0">
                <a:solidFill>
                  <a:srgbClr val="1F4E5F"/>
                </a:solidFill>
                <a:latin typeface="Calibri" pitchFamily="34" charset="0"/>
                <a:ea typeface="Calibri" pitchFamily="34" charset="-122"/>
                <a:cs typeface="Calibri" pitchFamily="34" charset="-120"/>
              </a:rPr>
              <a:t>Sieben Erlösquellen – eine Plattform, eine Akte, ein Profitcenter je Maßnahme</a:t>
            </a:r>
            <a:endParaRPr lang="en-US" sz="3000" dirty="0"/>
          </a:p>
        </p:txBody>
      </p:sp>
      <p:sp>
        <p:nvSpPr>
          <p:cNvPr id="3" name="Text 1"/>
          <p:cNvSpPr/>
          <p:nvPr/>
        </p:nvSpPr>
        <p:spPr>
          <a:xfrm>
            <a:off x="548640" y="6473952"/>
            <a:ext cx="7315200" cy="274320"/>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KAȲȲA (Arbeitstitel) · Investorenpräsentation · vertraulich</a:t>
            </a:r>
            <a:endParaRPr lang="en-US" sz="900" dirty="0"/>
          </a:p>
        </p:txBody>
      </p:sp>
      <p:sp>
        <p:nvSpPr>
          <p:cNvPr id="4" name="Text 2"/>
          <p:cNvSpPr/>
          <p:nvPr/>
        </p:nvSpPr>
        <p:spPr>
          <a:xfrm>
            <a:off x="11274552" y="6473952"/>
            <a:ext cx="365760" cy="274320"/>
          </a:xfrm>
          <a:prstGeom prst="rect">
            <a:avLst/>
          </a:prstGeom>
          <a:noFill/>
          <a:ln/>
        </p:spPr>
        <p:txBody>
          <a:bodyPr wrap="square" rtlCol="0" anchor="ctr"/>
          <a:lstStyle/>
          <a:p>
            <a:pPr algn="r" indent="0" marL="0">
              <a:buNone/>
            </a:pPr>
            <a:r>
              <a:rPr lang="en-US" sz="900" dirty="0">
                <a:solidFill>
                  <a:srgbClr val="666666"/>
                </a:solidFill>
              </a:rPr>
              <a:t>6</a:t>
            </a:r>
            <a:endParaRPr lang="en-US" sz="900" dirty="0"/>
          </a:p>
        </p:txBody>
      </p:sp>
      <p:sp>
        <p:nvSpPr>
          <p:cNvPr id="5" name="Shape 3"/>
          <p:cNvSpPr/>
          <p:nvPr/>
        </p:nvSpPr>
        <p:spPr>
          <a:xfrm>
            <a:off x="548640" y="1234440"/>
            <a:ext cx="3566160" cy="2103120"/>
          </a:xfrm>
          <a:prstGeom prst="roundRect">
            <a:avLst>
              <a:gd name="adj" fmla="val 3478"/>
            </a:avLst>
          </a:prstGeom>
          <a:solidFill>
            <a:srgbClr val="EDF4F6"/>
          </a:solidFill>
          <a:ln w="6350">
            <a:solidFill>
              <a:srgbClr val="DDDDDD"/>
            </a:solidFill>
            <a:prstDash val="solid"/>
          </a:ln>
        </p:spPr>
      </p:sp>
      <p:sp>
        <p:nvSpPr>
          <p:cNvPr id="6" name="Text 4"/>
          <p:cNvSpPr/>
          <p:nvPr/>
        </p:nvSpPr>
        <p:spPr>
          <a:xfrm>
            <a:off x="731520" y="1371600"/>
            <a:ext cx="3200400" cy="777240"/>
          </a:xfrm>
          <a:prstGeom prst="rect">
            <a:avLst/>
          </a:prstGeom>
          <a:noFill/>
          <a:ln/>
        </p:spPr>
        <p:txBody>
          <a:bodyPr wrap="square" rtlCol="0" anchor="ctr"/>
          <a:lstStyle/>
          <a:p>
            <a:pPr indent="0" marL="0">
              <a:buNone/>
            </a:pPr>
            <a:r>
              <a:rPr lang="en-US" sz="1500" b="1" dirty="0">
                <a:solidFill>
                  <a:srgbClr val="1F4E5F"/>
                </a:solidFill>
              </a:rPr>
              <a:t>Geförderte Weiterbildung &amp; Vergabe</a:t>
            </a:r>
            <a:endParaRPr lang="en-US" sz="1500" dirty="0"/>
          </a:p>
        </p:txBody>
      </p:sp>
      <p:sp>
        <p:nvSpPr>
          <p:cNvPr id="7" name="Text 5"/>
          <p:cNvSpPr/>
          <p:nvPr/>
        </p:nvSpPr>
        <p:spPr>
          <a:xfrm>
            <a:off x="731520" y="2148840"/>
            <a:ext cx="3200400" cy="1097280"/>
          </a:xfrm>
          <a:prstGeom prst="rect">
            <a:avLst/>
          </a:prstGeom>
          <a:noFill/>
          <a:ln/>
        </p:spPr>
        <p:txBody>
          <a:bodyPr wrap="square" rtlCol="0" anchor="t"/>
          <a:lstStyle/>
          <a:p>
            <a:pPr indent="0" marL="0">
              <a:buNone/>
            </a:pPr>
            <a:r>
              <a:rPr lang="en-US" sz="1200" dirty="0">
                <a:solidFill>
                  <a:srgbClr val="333333"/>
                </a:solidFill>
              </a:rPr>
              <a:t>Bildungsgutscheine, AVGS, REZ-Lose – Kernmarkt der BA/Jobcenter</a:t>
            </a:r>
            <a:endParaRPr lang="en-US" sz="1200" dirty="0"/>
          </a:p>
        </p:txBody>
      </p:sp>
      <p:sp>
        <p:nvSpPr>
          <p:cNvPr id="8" name="Shape 6"/>
          <p:cNvSpPr/>
          <p:nvPr/>
        </p:nvSpPr>
        <p:spPr>
          <a:xfrm>
            <a:off x="4315968" y="1234440"/>
            <a:ext cx="3566160" cy="2103120"/>
          </a:xfrm>
          <a:prstGeom prst="roundRect">
            <a:avLst>
              <a:gd name="adj" fmla="val 3478"/>
            </a:avLst>
          </a:prstGeom>
          <a:solidFill>
            <a:srgbClr val="1F4E5F"/>
          </a:solidFill>
          <a:ln w="6350">
            <a:solidFill>
              <a:srgbClr val="DDDDDD"/>
            </a:solidFill>
            <a:prstDash val="solid"/>
          </a:ln>
        </p:spPr>
      </p:sp>
      <p:sp>
        <p:nvSpPr>
          <p:cNvPr id="9" name="Text 7"/>
          <p:cNvSpPr/>
          <p:nvPr/>
        </p:nvSpPr>
        <p:spPr>
          <a:xfrm>
            <a:off x="4498848" y="1371600"/>
            <a:ext cx="3200400" cy="777240"/>
          </a:xfrm>
          <a:prstGeom prst="rect">
            <a:avLst/>
          </a:prstGeom>
          <a:noFill/>
          <a:ln/>
        </p:spPr>
        <p:txBody>
          <a:bodyPr wrap="square" rtlCol="0" anchor="ctr"/>
          <a:lstStyle/>
          <a:p>
            <a:pPr indent="0" marL="0">
              <a:buNone/>
            </a:pPr>
            <a:r>
              <a:rPr lang="en-US" sz="1500" b="1" dirty="0">
                <a:solidFill>
                  <a:srgbClr val="FFFFFF"/>
                </a:solidFill>
              </a:rPr>
              <a:t>Internationale Fachkräfte</a:t>
            </a:r>
            <a:endParaRPr lang="en-US" sz="1500" dirty="0"/>
          </a:p>
        </p:txBody>
      </p:sp>
      <p:sp>
        <p:nvSpPr>
          <p:cNvPr id="10" name="Text 8"/>
          <p:cNvSpPr/>
          <p:nvPr/>
        </p:nvSpPr>
        <p:spPr>
          <a:xfrm>
            <a:off x="4498848" y="2148840"/>
            <a:ext cx="3200400" cy="1097280"/>
          </a:xfrm>
          <a:prstGeom prst="rect">
            <a:avLst/>
          </a:prstGeom>
          <a:noFill/>
          <a:ln/>
        </p:spPr>
        <p:txBody>
          <a:bodyPr wrap="square" rtlCol="0" anchor="t"/>
          <a:lstStyle/>
          <a:p>
            <a:pPr indent="0" marL="0">
              <a:buNone/>
            </a:pPr>
            <a:r>
              <a:rPr lang="en-US" sz="1200" dirty="0">
                <a:solidFill>
                  <a:srgbClr val="E8F0F2"/>
                </a:solidFill>
              </a:rPr>
              <a:t>Ausbildungscampus Philippinen/Singapur: Pflege, Hotellerie, Gastronomie – Prüfung in Deutschland</a:t>
            </a:r>
            <a:endParaRPr lang="en-US" sz="1200" dirty="0"/>
          </a:p>
        </p:txBody>
      </p:sp>
      <p:sp>
        <p:nvSpPr>
          <p:cNvPr id="11" name="Shape 9"/>
          <p:cNvSpPr/>
          <p:nvPr/>
        </p:nvSpPr>
        <p:spPr>
          <a:xfrm>
            <a:off x="8083296" y="1234440"/>
            <a:ext cx="3566160" cy="2103120"/>
          </a:xfrm>
          <a:prstGeom prst="roundRect">
            <a:avLst>
              <a:gd name="adj" fmla="val 3478"/>
            </a:avLst>
          </a:prstGeom>
          <a:solidFill>
            <a:srgbClr val="1F4E5F"/>
          </a:solidFill>
          <a:ln w="6350">
            <a:solidFill>
              <a:srgbClr val="DDDDDD"/>
            </a:solidFill>
            <a:prstDash val="solid"/>
          </a:ln>
        </p:spPr>
      </p:sp>
      <p:sp>
        <p:nvSpPr>
          <p:cNvPr id="12" name="Text 10"/>
          <p:cNvSpPr/>
          <p:nvPr/>
        </p:nvSpPr>
        <p:spPr>
          <a:xfrm>
            <a:off x="8266176" y="1371600"/>
            <a:ext cx="3200400" cy="777240"/>
          </a:xfrm>
          <a:prstGeom prst="rect">
            <a:avLst/>
          </a:prstGeom>
          <a:noFill/>
          <a:ln/>
        </p:spPr>
        <p:txBody>
          <a:bodyPr wrap="square" rtlCol="0" anchor="ctr"/>
          <a:lstStyle/>
          <a:p>
            <a:pPr indent="0" marL="0">
              <a:buNone/>
            </a:pPr>
            <a:r>
              <a:rPr lang="en-US" sz="1500" b="1" dirty="0">
                <a:solidFill>
                  <a:srgbClr val="FFFFFF"/>
                </a:solidFill>
              </a:rPr>
              <a:t>Talentpool &amp; Vermittlung</a:t>
            </a:r>
            <a:endParaRPr lang="en-US" sz="1500" dirty="0"/>
          </a:p>
        </p:txBody>
      </p:sp>
      <p:sp>
        <p:nvSpPr>
          <p:cNvPr id="13" name="Text 11"/>
          <p:cNvSpPr/>
          <p:nvPr/>
        </p:nvSpPr>
        <p:spPr>
          <a:xfrm>
            <a:off x="8266176" y="2148840"/>
            <a:ext cx="3200400" cy="1097280"/>
          </a:xfrm>
          <a:prstGeom prst="rect">
            <a:avLst/>
          </a:prstGeom>
          <a:noFill/>
          <a:ln/>
        </p:spPr>
        <p:txBody>
          <a:bodyPr wrap="square" rtlCol="0" anchor="t"/>
          <a:lstStyle/>
          <a:p>
            <a:pPr indent="0" marL="0">
              <a:buNone/>
            </a:pPr>
            <a:r>
              <a:rPr lang="en-US" sz="1200" dirty="0">
                <a:solidFill>
                  <a:srgbClr val="E8F0F2"/>
                </a:solidFill>
              </a:rPr>
              <a:t>Arbeitgeberportal mit Starttermin-Prognose; Employer-Pays-Pauschalen 8–15 T€/Kraft</a:t>
            </a:r>
            <a:endParaRPr lang="en-US" sz="1200" dirty="0"/>
          </a:p>
        </p:txBody>
      </p:sp>
      <p:sp>
        <p:nvSpPr>
          <p:cNvPr id="14" name="Shape 12"/>
          <p:cNvSpPr/>
          <p:nvPr/>
        </p:nvSpPr>
        <p:spPr>
          <a:xfrm>
            <a:off x="548640" y="3520440"/>
            <a:ext cx="3566160" cy="2103120"/>
          </a:xfrm>
          <a:prstGeom prst="roundRect">
            <a:avLst>
              <a:gd name="adj" fmla="val 3478"/>
            </a:avLst>
          </a:prstGeom>
          <a:solidFill>
            <a:srgbClr val="EDF4F6"/>
          </a:solidFill>
          <a:ln w="6350">
            <a:solidFill>
              <a:srgbClr val="DDDDDD"/>
            </a:solidFill>
            <a:prstDash val="solid"/>
          </a:ln>
        </p:spPr>
      </p:sp>
      <p:sp>
        <p:nvSpPr>
          <p:cNvPr id="15" name="Text 13"/>
          <p:cNvSpPr/>
          <p:nvPr/>
        </p:nvSpPr>
        <p:spPr>
          <a:xfrm>
            <a:off x="731520" y="3657600"/>
            <a:ext cx="3200400" cy="777240"/>
          </a:xfrm>
          <a:prstGeom prst="rect">
            <a:avLst/>
          </a:prstGeom>
          <a:noFill/>
          <a:ln/>
        </p:spPr>
        <p:txBody>
          <a:bodyPr wrap="square" rtlCol="0" anchor="ctr"/>
          <a:lstStyle/>
          <a:p>
            <a:pPr indent="0" marL="0">
              <a:buNone/>
            </a:pPr>
            <a:r>
              <a:rPr lang="en-US" sz="1500" b="1" dirty="0">
                <a:solidFill>
                  <a:srgbClr val="1F4E5F"/>
                </a:solidFill>
              </a:rPr>
              <a:t>Suchteingliederung im Ausland</a:t>
            </a:r>
            <a:endParaRPr lang="en-US" sz="1500" dirty="0"/>
          </a:p>
        </p:txBody>
      </p:sp>
      <p:sp>
        <p:nvSpPr>
          <p:cNvPr id="16" name="Text 14"/>
          <p:cNvSpPr/>
          <p:nvPr/>
        </p:nvSpPr>
        <p:spPr>
          <a:xfrm>
            <a:off x="731520" y="4434840"/>
            <a:ext cx="3200400" cy="1097280"/>
          </a:xfrm>
          <a:prstGeom prst="rect">
            <a:avLst/>
          </a:prstGeom>
          <a:noFill/>
          <a:ln/>
        </p:spPr>
        <p:txBody>
          <a:bodyPr wrap="square" rtlCol="0" anchor="t"/>
          <a:lstStyle/>
          <a:p>
            <a:pPr indent="0" marL="0">
              <a:buNone/>
            </a:pPr>
            <a:r>
              <a:rPr lang="en-US" sz="1200" dirty="0">
                <a:solidFill>
                  <a:srgbClr val="333333"/>
                </a:solidFill>
              </a:rPr>
              <a:t>Neuanfang fern des Milieus – § 31 SGB IX, rehapro, DRV</a:t>
            </a:r>
            <a:endParaRPr lang="en-US" sz="1200" dirty="0"/>
          </a:p>
        </p:txBody>
      </p:sp>
      <p:sp>
        <p:nvSpPr>
          <p:cNvPr id="17" name="Shape 15"/>
          <p:cNvSpPr/>
          <p:nvPr/>
        </p:nvSpPr>
        <p:spPr>
          <a:xfrm>
            <a:off x="4315968" y="3520440"/>
            <a:ext cx="3566160" cy="2103120"/>
          </a:xfrm>
          <a:prstGeom prst="roundRect">
            <a:avLst>
              <a:gd name="adj" fmla="val 3478"/>
            </a:avLst>
          </a:prstGeom>
          <a:solidFill>
            <a:srgbClr val="EDF4F6"/>
          </a:solidFill>
          <a:ln w="6350">
            <a:solidFill>
              <a:srgbClr val="DDDDDD"/>
            </a:solidFill>
            <a:prstDash val="solid"/>
          </a:ln>
        </p:spPr>
      </p:sp>
      <p:sp>
        <p:nvSpPr>
          <p:cNvPr id="18" name="Text 16"/>
          <p:cNvSpPr/>
          <p:nvPr/>
        </p:nvSpPr>
        <p:spPr>
          <a:xfrm>
            <a:off x="4498848" y="3657600"/>
            <a:ext cx="3200400" cy="777240"/>
          </a:xfrm>
          <a:prstGeom prst="rect">
            <a:avLst/>
          </a:prstGeom>
          <a:noFill/>
          <a:ln/>
        </p:spPr>
        <p:txBody>
          <a:bodyPr wrap="square" rtlCol="0" anchor="ctr"/>
          <a:lstStyle/>
          <a:p>
            <a:pPr indent="0" marL="0">
              <a:buNone/>
            </a:pPr>
            <a:r>
              <a:rPr lang="en-US" sz="1500" b="1" dirty="0">
                <a:solidFill>
                  <a:srgbClr val="1F4E5F"/>
                </a:solidFill>
              </a:rPr>
              <a:t>Schulbegleitung &amp; Kurzqualifikationen</a:t>
            </a:r>
            <a:endParaRPr lang="en-US" sz="1500" dirty="0"/>
          </a:p>
        </p:txBody>
      </p:sp>
      <p:sp>
        <p:nvSpPr>
          <p:cNvPr id="19" name="Text 17"/>
          <p:cNvSpPr/>
          <p:nvPr/>
        </p:nvSpPr>
        <p:spPr>
          <a:xfrm>
            <a:off x="4498848" y="4434840"/>
            <a:ext cx="3200400" cy="1097280"/>
          </a:xfrm>
          <a:prstGeom prst="rect">
            <a:avLst/>
          </a:prstGeom>
          <a:noFill/>
          <a:ln/>
        </p:spPr>
        <p:txBody>
          <a:bodyPr wrap="square" rtlCol="0" anchor="t"/>
          <a:lstStyle/>
          <a:p>
            <a:pPr indent="0" marL="0">
              <a:buNone/>
            </a:pPr>
            <a:r>
              <a:rPr lang="en-US" sz="1200" dirty="0">
                <a:solidFill>
                  <a:srgbClr val="333333"/>
                </a:solidFill>
              </a:rPr>
              <a:t>Fachleistungsstunden der Kommunen; §34a, BKF, Betreuungskraft &amp; Co.</a:t>
            </a:r>
            <a:endParaRPr lang="en-US" sz="1200" dirty="0"/>
          </a:p>
        </p:txBody>
      </p:sp>
      <p:sp>
        <p:nvSpPr>
          <p:cNvPr id="20" name="Shape 18"/>
          <p:cNvSpPr/>
          <p:nvPr/>
        </p:nvSpPr>
        <p:spPr>
          <a:xfrm>
            <a:off x="8083296" y="3520440"/>
            <a:ext cx="3566160" cy="2103120"/>
          </a:xfrm>
          <a:prstGeom prst="roundRect">
            <a:avLst>
              <a:gd name="adj" fmla="val 3478"/>
            </a:avLst>
          </a:prstGeom>
          <a:solidFill>
            <a:srgbClr val="EDF4F6"/>
          </a:solidFill>
          <a:ln w="6350">
            <a:solidFill>
              <a:srgbClr val="DDDDDD"/>
            </a:solidFill>
            <a:prstDash val="solid"/>
          </a:ln>
        </p:spPr>
      </p:sp>
      <p:sp>
        <p:nvSpPr>
          <p:cNvPr id="21" name="Text 19"/>
          <p:cNvSpPr/>
          <p:nvPr/>
        </p:nvSpPr>
        <p:spPr>
          <a:xfrm>
            <a:off x="8266176" y="3657600"/>
            <a:ext cx="3200400" cy="777240"/>
          </a:xfrm>
          <a:prstGeom prst="rect">
            <a:avLst/>
          </a:prstGeom>
          <a:noFill/>
          <a:ln/>
        </p:spPr>
        <p:txBody>
          <a:bodyPr wrap="square" rtlCol="0" anchor="ctr"/>
          <a:lstStyle/>
          <a:p>
            <a:pPr indent="0" marL="0">
              <a:buNone/>
            </a:pPr>
            <a:r>
              <a:rPr lang="en-US" sz="1500" b="1" dirty="0">
                <a:solidFill>
                  <a:srgbClr val="1F4E5F"/>
                </a:solidFill>
              </a:rPr>
              <a:t>Eigene Einrichtungen &amp; Wohncampus</a:t>
            </a:r>
            <a:endParaRPr lang="en-US" sz="1500" dirty="0"/>
          </a:p>
        </p:txBody>
      </p:sp>
      <p:sp>
        <p:nvSpPr>
          <p:cNvPr id="22" name="Text 20"/>
          <p:cNvSpPr/>
          <p:nvPr/>
        </p:nvSpPr>
        <p:spPr>
          <a:xfrm>
            <a:off x="8266176" y="4434840"/>
            <a:ext cx="3200400" cy="1097280"/>
          </a:xfrm>
          <a:prstGeom prst="rect">
            <a:avLst/>
          </a:prstGeom>
          <a:noFill/>
          <a:ln/>
        </p:spPr>
        <p:txBody>
          <a:bodyPr wrap="square" rtlCol="0" anchor="t"/>
          <a:lstStyle/>
          <a:p>
            <a:pPr indent="0" marL="0">
              <a:buNone/>
            </a:pPr>
            <a:r>
              <a:rPr lang="en-US" sz="1200" dirty="0">
                <a:solidFill>
                  <a:srgbClr val="333333"/>
                </a:solidFill>
              </a:rPr>
              <a:t>Reha/Pflege als Abnehmer und Praxisort; Wohnen bindet Fachkräfte</a:t>
            </a:r>
            <a:endParaRPr lang="en-US" sz="1200" dirty="0"/>
          </a:p>
        </p:txBody>
      </p:sp>
      <p:sp>
        <p:nvSpPr>
          <p:cNvPr id="23" name="Text 21"/>
          <p:cNvSpPr/>
          <p:nvPr/>
        </p:nvSpPr>
        <p:spPr>
          <a:xfrm>
            <a:off x="548640" y="5897880"/>
            <a:ext cx="11091672" cy="365760"/>
          </a:xfrm>
          <a:prstGeom prst="rect">
            <a:avLst/>
          </a:prstGeom>
          <a:noFill/>
          <a:ln/>
        </p:spPr>
        <p:txBody>
          <a:bodyPr wrap="square" rtlCol="0" anchor="ctr"/>
          <a:lstStyle/>
          <a:p>
            <a:pPr indent="0" marL="0">
              <a:buNone/>
            </a:pPr>
            <a:r>
              <a:rPr lang="en-US" sz="1200" i="1" dirty="0">
                <a:solidFill>
                  <a:srgbClr val="666666"/>
                </a:solidFill>
              </a:rPr>
              <a:t>Dunkel: das internationale Alleinstellungsgeschäft – Ausbildung im Ausland, Wertschöpfung im Verbund.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3000" b="1" dirty="0">
                <a:solidFill>
                  <a:srgbClr val="1F4E5F"/>
                </a:solidFill>
                <a:latin typeface="Calibri" pitchFamily="34" charset="0"/>
                <a:ea typeface="Calibri" pitchFamily="34" charset="-122"/>
                <a:cs typeface="Calibri" pitchFamily="34" charset="-120"/>
              </a:rPr>
              <a:t>Das Zeitfenster: Die neue Mittelvergabe lässt die Dinosaurier aussterben</a:t>
            </a:r>
            <a:endParaRPr lang="en-US" sz="3000" dirty="0"/>
          </a:p>
        </p:txBody>
      </p:sp>
      <p:sp>
        <p:nvSpPr>
          <p:cNvPr id="3" name="Text 1"/>
          <p:cNvSpPr/>
          <p:nvPr/>
        </p:nvSpPr>
        <p:spPr>
          <a:xfrm>
            <a:off x="548640" y="6473952"/>
            <a:ext cx="7315200" cy="274320"/>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KAȲȲA (Arbeitstitel) · Investorenpräsentation · vertraulich</a:t>
            </a:r>
            <a:endParaRPr lang="en-US" sz="900" dirty="0"/>
          </a:p>
        </p:txBody>
      </p:sp>
      <p:sp>
        <p:nvSpPr>
          <p:cNvPr id="4" name="Text 2"/>
          <p:cNvSpPr/>
          <p:nvPr/>
        </p:nvSpPr>
        <p:spPr>
          <a:xfrm>
            <a:off x="11274552" y="6473952"/>
            <a:ext cx="365760" cy="274320"/>
          </a:xfrm>
          <a:prstGeom prst="rect">
            <a:avLst/>
          </a:prstGeom>
          <a:noFill/>
          <a:ln/>
        </p:spPr>
        <p:txBody>
          <a:bodyPr wrap="square" rtlCol="0" anchor="ctr"/>
          <a:lstStyle/>
          <a:p>
            <a:pPr algn="r" indent="0" marL="0">
              <a:buNone/>
            </a:pPr>
            <a:r>
              <a:rPr lang="en-US" sz="900" dirty="0">
                <a:solidFill>
                  <a:srgbClr val="666666"/>
                </a:solidFill>
              </a:rPr>
              <a:t>7</a:t>
            </a:r>
            <a:endParaRPr lang="en-US" sz="900" dirty="0"/>
          </a:p>
        </p:txBody>
      </p:sp>
      <p:sp>
        <p:nvSpPr>
          <p:cNvPr id="5" name="Text 3"/>
          <p:cNvSpPr/>
          <p:nvPr/>
        </p:nvSpPr>
        <p:spPr>
          <a:xfrm>
            <a:off x="548640" y="1143000"/>
            <a:ext cx="11091672" cy="1051560"/>
          </a:xfrm>
          <a:prstGeom prst="rect">
            <a:avLst/>
          </a:prstGeom>
          <a:noFill/>
          <a:ln/>
        </p:spPr>
        <p:txBody>
          <a:bodyPr wrap="square" rtlCol="0" anchor="t"/>
          <a:lstStyle/>
          <a:p>
            <a:pPr indent="0" marL="0">
              <a:buNone/>
            </a:pPr>
            <a:r>
              <a:rPr lang="en-US" sz="1500" b="1" dirty="0">
                <a:solidFill>
                  <a:srgbClr val="222222"/>
                </a:solidFill>
              </a:rPr>
              <a:t>Der Gesetzgeber hat die Spielregeln geändert: </a:t>
            </a:r>
            <a:pPr indent="0" marL="0">
              <a:buNone/>
            </a:pPr>
            <a:r>
              <a:rPr lang="en-US" sz="1500" dirty="0">
                <a:solidFill>
                  <a:srgbClr val="222222"/>
                </a:solidFill>
              </a:rPr>
              <a:t>Gedeckelte Kostensätze (B-DKS), scharfer Preiswettbewerb in den Vergaben und steigende Transparenzanforderungen entziehen dem alten Modell die Grundlage. Wer einen Wasserkopf aus Leitungsebenen, Zentralen und Stabsabteilungen aus öffentlichen Mitteln füttern muss, kann keine marktfähigen Preise mehr anbieten.</a:t>
            </a:r>
            <a:endParaRPr lang="en-US" sz="1500" dirty="0"/>
          </a:p>
        </p:txBody>
      </p:sp>
      <p:sp>
        <p:nvSpPr>
          <p:cNvPr id="6" name="Shape 4"/>
          <p:cNvSpPr/>
          <p:nvPr/>
        </p:nvSpPr>
        <p:spPr>
          <a:xfrm>
            <a:off x="548640" y="2286000"/>
            <a:ext cx="5486400" cy="3017520"/>
          </a:xfrm>
          <a:prstGeom prst="roundRect">
            <a:avLst>
              <a:gd name="adj" fmla="val 2424"/>
            </a:avLst>
          </a:prstGeom>
          <a:solidFill>
            <a:srgbClr val="EDF4F6"/>
          </a:solidFill>
          <a:ln w="6350">
            <a:solidFill>
              <a:srgbClr val="DDDDDD"/>
            </a:solidFill>
            <a:prstDash val="solid"/>
          </a:ln>
        </p:spPr>
      </p:sp>
      <p:sp>
        <p:nvSpPr>
          <p:cNvPr id="7" name="Text 5"/>
          <p:cNvSpPr/>
          <p:nvPr/>
        </p:nvSpPr>
        <p:spPr>
          <a:xfrm>
            <a:off x="777240" y="2468880"/>
            <a:ext cx="5029200" cy="457200"/>
          </a:xfrm>
          <a:prstGeom prst="rect">
            <a:avLst/>
          </a:prstGeom>
          <a:noFill/>
          <a:ln/>
        </p:spPr>
        <p:txBody>
          <a:bodyPr wrap="square" rtlCol="0" anchor="ctr"/>
          <a:lstStyle/>
          <a:p>
            <a:pPr indent="0" marL="0">
              <a:buNone/>
            </a:pPr>
            <a:r>
              <a:rPr lang="en-US" sz="1700" b="1" dirty="0">
                <a:solidFill>
                  <a:srgbClr val="A33333"/>
                </a:solidFill>
              </a:rPr>
              <a:t>Das Aussterben hat begonnen</a:t>
            </a:r>
            <a:endParaRPr lang="en-US" sz="1700" dirty="0"/>
          </a:p>
        </p:txBody>
      </p:sp>
      <p:sp>
        <p:nvSpPr>
          <p:cNvPr id="8" name="Text 6"/>
          <p:cNvSpPr/>
          <p:nvPr/>
        </p:nvSpPr>
        <p:spPr>
          <a:xfrm>
            <a:off x="777240" y="2971800"/>
            <a:ext cx="5029200" cy="2194560"/>
          </a:xfrm>
          <a:prstGeom prst="rect">
            <a:avLst/>
          </a:prstGeom>
          <a:noFill/>
          <a:ln/>
        </p:spPr>
        <p:txBody>
          <a:bodyPr wrap="square" rtlCol="0" anchor="t"/>
          <a:lstStyle/>
          <a:p>
            <a:pPr marL="342900" indent="-342900">
              <a:spcAft>
                <a:spcPts val="800"/>
              </a:spcAft>
              <a:buSzPct val="100000"/>
              <a:buChar char="•"/>
            </a:pPr>
            <a:r>
              <a:rPr lang="en-US" sz="1300" dirty="0">
                <a:solidFill>
                  <a:srgbClr val="333333"/>
                </a:solidFill>
              </a:rPr>
              <a:t>Große Träger ziehen sich aus Losen zurück – die Volumina werden frei</a:t>
            </a:r>
            <a:endParaRPr lang="en-US" sz="1300" dirty="0"/>
          </a:p>
          <a:p>
            <a:pPr marL="342900" indent="-342900">
              <a:spcAft>
                <a:spcPts val="800"/>
              </a:spcAft>
              <a:buSzPct val="100000"/>
              <a:buChar char="•"/>
            </a:pPr>
            <a:r>
              <a:rPr lang="en-US" sz="1300" dirty="0">
                <a:solidFill>
                  <a:srgbClr val="333333"/>
                </a:solidFill>
              </a:rPr>
              <a:t>Insolvenzwelle 2024 im Bildungsgutschein-Markt traf die Trägen zuerst</a:t>
            </a:r>
            <a:endParaRPr lang="en-US" sz="1300" dirty="0"/>
          </a:p>
          <a:p>
            <a:pPr marL="342900" indent="-342900">
              <a:spcAft>
                <a:spcPts val="800"/>
              </a:spcAft>
              <a:buSzPct val="100000"/>
              <a:buChar char="•"/>
            </a:pPr>
            <a:r>
              <a:rPr lang="en-US" sz="1300" dirty="0">
                <a:solidFill>
                  <a:srgbClr val="333333"/>
                </a:solidFill>
              </a:rPr>
              <a:t>Bestandsorganisationen können ihre Apparate nicht gegen sich selbst wegdigitalisieren – zu viele Besitzstände</a:t>
            </a:r>
            <a:endParaRPr lang="en-US" sz="1300" dirty="0"/>
          </a:p>
          <a:p>
            <a:pPr marL="342900" indent="-342900">
              <a:spcAft>
                <a:spcPts val="800"/>
              </a:spcAft>
              <a:buSzPct val="100000"/>
              <a:buChar char="•"/>
            </a:pPr>
            <a:r>
              <a:rPr lang="en-US" sz="1300" dirty="0">
                <a:solidFill>
                  <a:srgbClr val="333333"/>
                </a:solidFill>
              </a:rPr>
              <a:t>Und kein einziger Anbieter hat bisher die Konsequenz gezogen: KI-Verwaltung plus offene Bücher</a:t>
            </a:r>
            <a:endParaRPr lang="en-US" sz="1300" dirty="0"/>
          </a:p>
        </p:txBody>
      </p:sp>
      <p:sp>
        <p:nvSpPr>
          <p:cNvPr id="9" name="Shape 7"/>
          <p:cNvSpPr/>
          <p:nvPr/>
        </p:nvSpPr>
        <p:spPr>
          <a:xfrm>
            <a:off x="6309360" y="2286000"/>
            <a:ext cx="5349240" cy="3017520"/>
          </a:xfrm>
          <a:prstGeom prst="roundRect">
            <a:avLst>
              <a:gd name="adj" fmla="val 2424"/>
            </a:avLst>
          </a:prstGeom>
          <a:solidFill>
            <a:srgbClr val="1F4E5F"/>
          </a:solidFill>
          <a:ln w="6350">
            <a:solidFill>
              <a:srgbClr val="DDDDDD"/>
            </a:solidFill>
            <a:prstDash val="solid"/>
          </a:ln>
        </p:spPr>
      </p:sp>
      <p:sp>
        <p:nvSpPr>
          <p:cNvPr id="10" name="Text 8"/>
          <p:cNvSpPr/>
          <p:nvPr/>
        </p:nvSpPr>
        <p:spPr>
          <a:xfrm>
            <a:off x="6537960" y="2468880"/>
            <a:ext cx="4892040" cy="457200"/>
          </a:xfrm>
          <a:prstGeom prst="rect">
            <a:avLst/>
          </a:prstGeom>
          <a:noFill/>
          <a:ln/>
        </p:spPr>
        <p:txBody>
          <a:bodyPr wrap="square" rtlCol="0" anchor="ctr"/>
          <a:lstStyle/>
          <a:p>
            <a:pPr indent="0" marL="0">
              <a:buNone/>
            </a:pPr>
            <a:r>
              <a:rPr lang="en-US" sz="1700" b="1" dirty="0">
                <a:solidFill>
                  <a:srgbClr val="FFFFFF"/>
                </a:solidFill>
              </a:rPr>
              <a:t>Die einmalige Chance: jetzt aufmischen</a:t>
            </a:r>
            <a:endParaRPr lang="en-US" sz="1700" dirty="0"/>
          </a:p>
        </p:txBody>
      </p:sp>
      <p:sp>
        <p:nvSpPr>
          <p:cNvPr id="11" name="Text 9"/>
          <p:cNvSpPr/>
          <p:nvPr/>
        </p:nvSpPr>
        <p:spPr>
          <a:xfrm>
            <a:off x="6537960" y="2971800"/>
            <a:ext cx="4892040" cy="2194560"/>
          </a:xfrm>
          <a:prstGeom prst="rect">
            <a:avLst/>
          </a:prstGeom>
          <a:noFill/>
          <a:ln/>
        </p:spPr>
        <p:txBody>
          <a:bodyPr wrap="square" rtlCol="0" anchor="t"/>
          <a:lstStyle/>
          <a:p>
            <a:pPr indent="0" marL="0">
              <a:spcAft>
                <a:spcPts val="1000"/>
              </a:spcAft>
              <a:buNone/>
            </a:pPr>
            <a:r>
              <a:rPr lang="en-US" sz="1350" b="1" dirty="0">
                <a:solidFill>
                  <a:srgbClr val="FFFFFF"/>
                </a:solidFill>
              </a:rPr>
              <a:t>Zu Gunsten der Teilnehmer: </a:t>
            </a:r>
            <a:pPr indent="0" marL="0">
              <a:spcAft>
                <a:spcPts val="1000"/>
              </a:spcAft>
              <a:buNone/>
            </a:pPr>
            <a:r>
              <a:rPr lang="en-US" sz="1350" dirty="0">
                <a:solidFill>
                  <a:srgbClr val="E8F0F2"/>
                </a:solidFill>
              </a:rPr>
              <a:t>echte Abschlüsse und Neuanfänge statt abgesessener Maßnahmen</a:t>
            </a:r>
            <a:endParaRPr lang="en-US" sz="1350" dirty="0"/>
          </a:p>
          <a:p>
            <a:pPr indent="0" marL="0">
              <a:spcAft>
                <a:spcPts val="1000"/>
              </a:spcAft>
              <a:buNone/>
            </a:pPr>
            <a:r>
              <a:rPr lang="en-US" sz="1350" b="1" dirty="0">
                <a:solidFill>
                  <a:srgbClr val="FFFFFF"/>
                </a:solidFill>
              </a:rPr>
              <a:t>Zu Gunsten der öffentlichen Gelder: </a:t>
            </a:r>
            <a:pPr indent="0" marL="0">
              <a:spcAft>
                <a:spcPts val="1000"/>
              </a:spcAft>
              <a:buNone/>
            </a:pPr>
            <a:r>
              <a:rPr lang="en-US" sz="1350" dirty="0">
                <a:solidFill>
                  <a:srgbClr val="E8F0F2"/>
                </a:solidFill>
              </a:rPr>
              <a:t>jeder Euro kommt nachweisbar in der Maßnahme an</a:t>
            </a:r>
            <a:endParaRPr lang="en-US" sz="1350" dirty="0"/>
          </a:p>
          <a:p>
            <a:pPr indent="0" marL="0">
              <a:spcAft>
                <a:spcPts val="1000"/>
              </a:spcAft>
              <a:buNone/>
            </a:pPr>
            <a:r>
              <a:rPr lang="en-US" sz="1350" b="1" dirty="0">
                <a:solidFill>
                  <a:srgbClr val="FFFFFF"/>
                </a:solidFill>
              </a:rPr>
              <a:t>Zu Gunsten der Transparenz: </a:t>
            </a:r>
            <a:pPr indent="0" marL="0">
              <a:spcAft>
                <a:spcPts val="1000"/>
              </a:spcAft>
              <a:buNone/>
            </a:pPr>
            <a:r>
              <a:rPr lang="en-US" sz="1350" dirty="0">
                <a:solidFill>
                  <a:srgbClr val="E8F0F2"/>
                </a:solidFill>
              </a:rPr>
              <a:t>offene Belegketten als neuer Standard, an dem sich alle messen müssen</a:t>
            </a:r>
            <a:endParaRPr lang="en-US" sz="1350" dirty="0"/>
          </a:p>
        </p:txBody>
      </p:sp>
      <p:sp>
        <p:nvSpPr>
          <p:cNvPr id="12" name="Text 10"/>
          <p:cNvSpPr/>
          <p:nvPr/>
        </p:nvSpPr>
        <p:spPr>
          <a:xfrm>
            <a:off x="548640" y="5532120"/>
            <a:ext cx="11091672" cy="640080"/>
          </a:xfrm>
          <a:prstGeom prst="rect">
            <a:avLst/>
          </a:prstGeom>
          <a:noFill/>
          <a:ln/>
        </p:spPr>
        <p:txBody>
          <a:bodyPr wrap="square" rtlCol="0" anchor="ctr"/>
          <a:lstStyle/>
          <a:p>
            <a:pPr indent="0" marL="0">
              <a:buNone/>
            </a:pPr>
            <a:r>
              <a:rPr lang="en-US" sz="1500" b="1" i="1" dirty="0">
                <a:solidFill>
                  <a:srgbClr val="1F4E5F"/>
                </a:solidFill>
              </a:rPr>
              <a:t>Dieses Fenster öffnet sich einmal: Wer jetzt gründet, besetzt den Standard, bevor die Boutiquen-Welle nachzieht – und übernimmt die Volumina, die die Dinosaurier freigeben.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3000" b="1" dirty="0">
                <a:solidFill>
                  <a:srgbClr val="1F4E5F"/>
                </a:solidFill>
                <a:latin typeface="Calibri" pitchFamily="34" charset="0"/>
                <a:ea typeface="Calibri" pitchFamily="34" charset="-122"/>
                <a:cs typeface="Calibri" pitchFamily="34" charset="-120"/>
              </a:rPr>
              <a:t>Finanzplan: Break-even in Monat 18–24, dann skaliert die Marge</a:t>
            </a:r>
            <a:endParaRPr lang="en-US" sz="3000" dirty="0"/>
          </a:p>
        </p:txBody>
      </p:sp>
      <p:sp>
        <p:nvSpPr>
          <p:cNvPr id="3" name="Text 1"/>
          <p:cNvSpPr/>
          <p:nvPr/>
        </p:nvSpPr>
        <p:spPr>
          <a:xfrm>
            <a:off x="548640" y="6473952"/>
            <a:ext cx="7315200" cy="274320"/>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KAȲȲA (Arbeitstitel) · Investorenpräsentation · vertraulich</a:t>
            </a:r>
            <a:endParaRPr lang="en-US" sz="900" dirty="0"/>
          </a:p>
        </p:txBody>
      </p:sp>
      <p:sp>
        <p:nvSpPr>
          <p:cNvPr id="4" name="Text 2"/>
          <p:cNvSpPr/>
          <p:nvPr/>
        </p:nvSpPr>
        <p:spPr>
          <a:xfrm>
            <a:off x="11274552" y="6473952"/>
            <a:ext cx="365760" cy="274320"/>
          </a:xfrm>
          <a:prstGeom prst="rect">
            <a:avLst/>
          </a:prstGeom>
          <a:noFill/>
          <a:ln/>
        </p:spPr>
        <p:txBody>
          <a:bodyPr wrap="square" rtlCol="0" anchor="ctr"/>
          <a:lstStyle/>
          <a:p>
            <a:pPr algn="r" indent="0" marL="0">
              <a:buNone/>
            </a:pPr>
            <a:r>
              <a:rPr lang="en-US" sz="900" dirty="0">
                <a:solidFill>
                  <a:srgbClr val="666666"/>
                </a:solidFill>
              </a:rPr>
              <a:t>8</a:t>
            </a:r>
            <a:endParaRPr lang="en-US" sz="900" dirty="0"/>
          </a:p>
        </p:txBody>
      </p:sp>
      <p:graphicFrame>
        <p:nvGraphicFramePr>
          <p:cNvPr id="5" name="Chart 0" descr=""/>
          <p:cNvGraphicFramePr/>
          <p:nvPr/>
        </p:nvGraphicFramePr>
        <p:xfrm>
          <a:off x="548640" y="123444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498080" y="1234440"/>
            <a:ext cx="4114800" cy="1417320"/>
          </a:xfrm>
          <a:prstGeom prst="roundRect">
            <a:avLst>
              <a:gd name="adj" fmla="val 5161"/>
            </a:avLst>
          </a:prstGeom>
          <a:solidFill>
            <a:srgbClr val="EDF4F6"/>
          </a:solidFill>
          <a:ln w="6350">
            <a:solidFill>
              <a:srgbClr val="DDDDDD"/>
            </a:solidFill>
            <a:prstDash val="solid"/>
          </a:ln>
        </p:spPr>
      </p:sp>
      <p:sp>
        <p:nvSpPr>
          <p:cNvPr id="7" name="Text 4"/>
          <p:cNvSpPr/>
          <p:nvPr/>
        </p:nvSpPr>
        <p:spPr>
          <a:xfrm>
            <a:off x="7498080" y="1344168"/>
            <a:ext cx="4114800" cy="685800"/>
          </a:xfrm>
          <a:prstGeom prst="rect">
            <a:avLst/>
          </a:prstGeom>
          <a:noFill/>
          <a:ln/>
        </p:spPr>
        <p:txBody>
          <a:bodyPr wrap="square" rtlCol="0" anchor="ctr"/>
          <a:lstStyle/>
          <a:p>
            <a:pPr algn="ctr" indent="0" marL="0">
              <a:buNone/>
            </a:pPr>
            <a:r>
              <a:rPr lang="en-US" sz="3400" b="1" dirty="0">
                <a:solidFill>
                  <a:srgbClr val="2E6B2E"/>
                </a:solidFill>
              </a:rPr>
              <a:t>&lt; 10 %</a:t>
            </a:r>
            <a:endParaRPr lang="en-US" sz="3400" dirty="0"/>
          </a:p>
        </p:txBody>
      </p:sp>
      <p:sp>
        <p:nvSpPr>
          <p:cNvPr id="8" name="Text 5"/>
          <p:cNvSpPr/>
          <p:nvPr/>
        </p:nvSpPr>
        <p:spPr>
          <a:xfrm>
            <a:off x="7589520" y="2075688"/>
            <a:ext cx="3931920" cy="502920"/>
          </a:xfrm>
          <a:prstGeom prst="rect">
            <a:avLst/>
          </a:prstGeom>
          <a:noFill/>
          <a:ln/>
        </p:spPr>
        <p:txBody>
          <a:bodyPr wrap="square" rtlCol="0" anchor="ctr"/>
          <a:lstStyle/>
          <a:p>
            <a:pPr algn="ctr" indent="0" marL="0">
              <a:buNone/>
            </a:pPr>
            <a:r>
              <a:rPr lang="en-US" sz="1200" dirty="0">
                <a:solidFill>
                  <a:srgbClr val="333333"/>
                </a:solidFill>
              </a:rPr>
              <a:t>Verwaltungsquote ab Jahr 2 – sinkend mit jedem weiteren Teilnehmer</a:t>
            </a:r>
            <a:endParaRPr lang="en-US" sz="1200" dirty="0"/>
          </a:p>
        </p:txBody>
      </p:sp>
      <p:sp>
        <p:nvSpPr>
          <p:cNvPr id="9" name="Shape 6"/>
          <p:cNvSpPr/>
          <p:nvPr/>
        </p:nvSpPr>
        <p:spPr>
          <a:xfrm>
            <a:off x="7498080" y="2834640"/>
            <a:ext cx="4114800" cy="1417320"/>
          </a:xfrm>
          <a:prstGeom prst="roundRect">
            <a:avLst>
              <a:gd name="adj" fmla="val 5161"/>
            </a:avLst>
          </a:prstGeom>
          <a:solidFill>
            <a:srgbClr val="EDF4F6"/>
          </a:solidFill>
          <a:ln w="6350">
            <a:solidFill>
              <a:srgbClr val="DDDDDD"/>
            </a:solidFill>
            <a:prstDash val="solid"/>
          </a:ln>
        </p:spPr>
      </p:sp>
      <p:sp>
        <p:nvSpPr>
          <p:cNvPr id="10" name="Text 7"/>
          <p:cNvSpPr/>
          <p:nvPr/>
        </p:nvSpPr>
        <p:spPr>
          <a:xfrm>
            <a:off x="7498080" y="2944368"/>
            <a:ext cx="4114800" cy="685800"/>
          </a:xfrm>
          <a:prstGeom prst="rect">
            <a:avLst/>
          </a:prstGeom>
          <a:noFill/>
          <a:ln/>
        </p:spPr>
        <p:txBody>
          <a:bodyPr wrap="square" rtlCol="0" anchor="ctr"/>
          <a:lstStyle/>
          <a:p>
            <a:pPr algn="ctr" indent="0" marL="0">
              <a:buNone/>
            </a:pPr>
            <a:r>
              <a:rPr lang="en-US" sz="3400" b="1" dirty="0">
                <a:solidFill>
                  <a:srgbClr val="1F4E5F"/>
                </a:solidFill>
              </a:rPr>
              <a:t>110</a:t>
            </a:r>
            <a:endParaRPr lang="en-US" sz="3400" dirty="0"/>
          </a:p>
        </p:txBody>
      </p:sp>
      <p:sp>
        <p:nvSpPr>
          <p:cNvPr id="11" name="Text 8"/>
          <p:cNvSpPr/>
          <p:nvPr/>
        </p:nvSpPr>
        <p:spPr>
          <a:xfrm>
            <a:off x="7589520" y="3675888"/>
            <a:ext cx="3931920" cy="502920"/>
          </a:xfrm>
          <a:prstGeom prst="rect">
            <a:avLst/>
          </a:prstGeom>
          <a:noFill/>
          <a:ln/>
        </p:spPr>
        <p:txBody>
          <a:bodyPr wrap="square" rtlCol="0" anchor="ctr"/>
          <a:lstStyle/>
          <a:p>
            <a:pPr algn="ctr" indent="0" marL="0">
              <a:buNone/>
            </a:pPr>
            <a:r>
              <a:rPr lang="en-US" sz="1200" dirty="0">
                <a:solidFill>
                  <a:srgbClr val="333333"/>
                </a:solidFill>
              </a:rPr>
              <a:t>Teilnehmerplätze Inland (Jahr 3) + 60 internationale Vermittlungen p. a.</a:t>
            </a:r>
            <a:endParaRPr lang="en-US" sz="1200" dirty="0"/>
          </a:p>
        </p:txBody>
      </p:sp>
      <p:sp>
        <p:nvSpPr>
          <p:cNvPr id="12" name="Shape 9"/>
          <p:cNvSpPr/>
          <p:nvPr/>
        </p:nvSpPr>
        <p:spPr>
          <a:xfrm>
            <a:off x="7498080" y="4434840"/>
            <a:ext cx="4114800" cy="1417320"/>
          </a:xfrm>
          <a:prstGeom prst="roundRect">
            <a:avLst>
              <a:gd name="adj" fmla="val 5161"/>
            </a:avLst>
          </a:prstGeom>
          <a:solidFill>
            <a:srgbClr val="EDF4F6"/>
          </a:solidFill>
          <a:ln w="6350">
            <a:solidFill>
              <a:srgbClr val="DDDDDD"/>
            </a:solidFill>
            <a:prstDash val="solid"/>
          </a:ln>
        </p:spPr>
      </p:sp>
      <p:sp>
        <p:nvSpPr>
          <p:cNvPr id="13" name="Text 10"/>
          <p:cNvSpPr/>
          <p:nvPr/>
        </p:nvSpPr>
        <p:spPr>
          <a:xfrm>
            <a:off x="7498080" y="4544568"/>
            <a:ext cx="4114800" cy="685800"/>
          </a:xfrm>
          <a:prstGeom prst="rect">
            <a:avLst/>
          </a:prstGeom>
          <a:noFill/>
          <a:ln/>
        </p:spPr>
        <p:txBody>
          <a:bodyPr wrap="square" rtlCol="0" anchor="ctr"/>
          <a:lstStyle/>
          <a:p>
            <a:pPr algn="ctr" indent="0" marL="0">
              <a:buNone/>
            </a:pPr>
            <a:r>
              <a:rPr lang="en-US" sz="3400" b="1" dirty="0">
                <a:solidFill>
                  <a:srgbClr val="2E6B2E"/>
                </a:solidFill>
              </a:rPr>
              <a:t>20–30 % p. a.</a:t>
            </a:r>
            <a:endParaRPr lang="en-US" sz="3400" dirty="0"/>
          </a:p>
        </p:txBody>
      </p:sp>
      <p:sp>
        <p:nvSpPr>
          <p:cNvPr id="14" name="Text 11"/>
          <p:cNvSpPr/>
          <p:nvPr/>
        </p:nvSpPr>
        <p:spPr>
          <a:xfrm>
            <a:off x="7589520" y="5276088"/>
            <a:ext cx="3931920" cy="502920"/>
          </a:xfrm>
          <a:prstGeom prst="rect">
            <a:avLst/>
          </a:prstGeom>
          <a:noFill/>
          <a:ln/>
        </p:spPr>
        <p:txBody>
          <a:bodyPr wrap="square" rtlCol="0" anchor="ctr"/>
          <a:lstStyle/>
          <a:p>
            <a:pPr algn="ctr" indent="0" marL="0">
              <a:buNone/>
            </a:pPr>
            <a:r>
              <a:rPr lang="en-US" sz="1200" dirty="0">
                <a:solidFill>
                  <a:srgbClr val="333333"/>
                </a:solidFill>
              </a:rPr>
              <a:t>Ziel-Eigenkapitalrendite der Tochter-GmbH ab Jahr 4 (Planszenario: Vermittlung + Lizenzen)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3000" b="1" dirty="0">
                <a:solidFill>
                  <a:srgbClr val="1F4E5F"/>
                </a:solidFill>
                <a:latin typeface="Calibri" pitchFamily="34" charset="0"/>
                <a:ea typeface="Calibri" pitchFamily="34" charset="-122"/>
                <a:cs typeface="Calibri" pitchFamily="34" charset="-120"/>
              </a:rPr>
              <a:t>Ehrliche Struktur: Wirkung in der gGmbH, Rendite in der Tochter</a:t>
            </a:r>
            <a:endParaRPr lang="en-US" sz="3000" dirty="0"/>
          </a:p>
        </p:txBody>
      </p:sp>
      <p:sp>
        <p:nvSpPr>
          <p:cNvPr id="3" name="Text 1"/>
          <p:cNvSpPr/>
          <p:nvPr/>
        </p:nvSpPr>
        <p:spPr>
          <a:xfrm>
            <a:off x="548640" y="6473952"/>
            <a:ext cx="7315200" cy="274320"/>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KAȲȲA (Arbeitstitel) · Investorenpräsentation · vertraulich</a:t>
            </a:r>
            <a:endParaRPr lang="en-US" sz="900" dirty="0"/>
          </a:p>
        </p:txBody>
      </p:sp>
      <p:sp>
        <p:nvSpPr>
          <p:cNvPr id="4" name="Text 2"/>
          <p:cNvSpPr/>
          <p:nvPr/>
        </p:nvSpPr>
        <p:spPr>
          <a:xfrm>
            <a:off x="11274552" y="6473952"/>
            <a:ext cx="365760" cy="274320"/>
          </a:xfrm>
          <a:prstGeom prst="rect">
            <a:avLst/>
          </a:prstGeom>
          <a:noFill/>
          <a:ln/>
        </p:spPr>
        <p:txBody>
          <a:bodyPr wrap="square" rtlCol="0" anchor="ctr"/>
          <a:lstStyle/>
          <a:p>
            <a:pPr algn="r" indent="0" marL="0">
              <a:buNone/>
            </a:pPr>
            <a:r>
              <a:rPr lang="en-US" sz="900" dirty="0">
                <a:solidFill>
                  <a:srgbClr val="666666"/>
                </a:solidFill>
              </a:rPr>
              <a:t>9</a:t>
            </a:r>
            <a:endParaRPr lang="en-US" sz="900" dirty="0"/>
          </a:p>
        </p:txBody>
      </p:sp>
      <p:sp>
        <p:nvSpPr>
          <p:cNvPr id="5" name="Shape 3"/>
          <p:cNvSpPr/>
          <p:nvPr/>
        </p:nvSpPr>
        <p:spPr>
          <a:xfrm>
            <a:off x="548640" y="1234440"/>
            <a:ext cx="5486400" cy="4572000"/>
          </a:xfrm>
          <a:prstGeom prst="roundRect">
            <a:avLst>
              <a:gd name="adj" fmla="val 1600"/>
            </a:avLst>
          </a:prstGeom>
          <a:solidFill>
            <a:srgbClr val="EDF4F6"/>
          </a:solidFill>
          <a:ln w="6350">
            <a:solidFill>
              <a:srgbClr val="DDDDDD"/>
            </a:solidFill>
            <a:prstDash val="solid"/>
          </a:ln>
        </p:spPr>
      </p:sp>
      <p:sp>
        <p:nvSpPr>
          <p:cNvPr id="6" name="Text 4"/>
          <p:cNvSpPr/>
          <p:nvPr/>
        </p:nvSpPr>
        <p:spPr>
          <a:xfrm>
            <a:off x="777240" y="1417320"/>
            <a:ext cx="5029200" cy="457200"/>
          </a:xfrm>
          <a:prstGeom prst="rect">
            <a:avLst/>
          </a:prstGeom>
          <a:noFill/>
          <a:ln/>
        </p:spPr>
        <p:txBody>
          <a:bodyPr wrap="square" rtlCol="0" anchor="ctr"/>
          <a:lstStyle/>
          <a:p>
            <a:pPr indent="0" marL="0">
              <a:buNone/>
            </a:pPr>
            <a:r>
              <a:rPr lang="en-US" sz="1700" b="1" dirty="0">
                <a:solidFill>
                  <a:srgbClr val="1F4E5F"/>
                </a:solidFill>
              </a:rPr>
              <a:t>gGmbH (gemeinnützig)</a:t>
            </a:r>
            <a:endParaRPr lang="en-US" sz="1700" dirty="0"/>
          </a:p>
        </p:txBody>
      </p:sp>
      <p:sp>
        <p:nvSpPr>
          <p:cNvPr id="7" name="Text 5"/>
          <p:cNvSpPr/>
          <p:nvPr/>
        </p:nvSpPr>
        <p:spPr>
          <a:xfrm>
            <a:off x="777240" y="1965960"/>
            <a:ext cx="5029200" cy="3566160"/>
          </a:xfrm>
          <a:prstGeom prst="rect">
            <a:avLst/>
          </a:prstGeom>
          <a:noFill/>
          <a:ln/>
        </p:spPr>
        <p:txBody>
          <a:bodyPr wrap="square" rtlCol="0" anchor="t"/>
          <a:lstStyle/>
          <a:p>
            <a:pPr marL="342900" indent="-342900">
              <a:spcAft>
                <a:spcPts val="1000"/>
              </a:spcAft>
              <a:buSzPct val="100000"/>
              <a:buChar char="•"/>
            </a:pPr>
            <a:r>
              <a:rPr lang="en-US" sz="1300" dirty="0">
                <a:solidFill>
                  <a:srgbClr val="333333"/>
                </a:solidFill>
              </a:rPr>
              <a:t>Bildung, Maßnahmen, eigene Einrichtungen, Suchtprogramm</a:t>
            </a:r>
            <a:endParaRPr lang="en-US" sz="1300" dirty="0"/>
          </a:p>
          <a:p>
            <a:pPr marL="342900" indent="-342900">
              <a:spcAft>
                <a:spcPts val="1000"/>
              </a:spcAft>
              <a:buSzPct val="100000"/>
              <a:buChar char="•"/>
            </a:pPr>
            <a:r>
              <a:rPr lang="en-US" sz="1300" dirty="0">
                <a:solidFill>
                  <a:srgbClr val="333333"/>
                </a:solidFill>
              </a:rPr>
              <a:t>Keine Gewinnausschüttung – das ist Feature, nicht Schwäche: Glaubwürdigkeit bei Behörden, Zugang zu Fördertöpfen und Spenden</a:t>
            </a:r>
            <a:endParaRPr lang="en-US" sz="1300" dirty="0"/>
          </a:p>
          <a:p>
            <a:pPr marL="342900" indent="-342900">
              <a:spcAft>
                <a:spcPts val="1000"/>
              </a:spcAft>
              <a:buSzPct val="100000"/>
              <a:buChar char="•"/>
            </a:pPr>
            <a:r>
              <a:rPr lang="en-US" sz="1300" dirty="0">
                <a:solidFill>
                  <a:srgbClr val="333333"/>
                </a:solidFill>
              </a:rPr>
              <a:t>Investierbar über: Gesellschafterdarlehen (marktübliche Verzinsung), Immobilien des Wohncampus (Eigentum + Mietrendite + Förderung „Junges Wohnen“)</a:t>
            </a:r>
            <a:endParaRPr lang="en-US" sz="1300" dirty="0"/>
          </a:p>
        </p:txBody>
      </p:sp>
      <p:sp>
        <p:nvSpPr>
          <p:cNvPr id="8" name="Shape 6"/>
          <p:cNvSpPr/>
          <p:nvPr/>
        </p:nvSpPr>
        <p:spPr>
          <a:xfrm>
            <a:off x="6309360" y="1234440"/>
            <a:ext cx="5349240" cy="4572000"/>
          </a:xfrm>
          <a:prstGeom prst="roundRect">
            <a:avLst>
              <a:gd name="adj" fmla="val 1600"/>
            </a:avLst>
          </a:prstGeom>
          <a:solidFill>
            <a:srgbClr val="1F4E5F"/>
          </a:solidFill>
          <a:ln w="6350">
            <a:solidFill>
              <a:srgbClr val="DDDDDD"/>
            </a:solidFill>
            <a:prstDash val="solid"/>
          </a:ln>
        </p:spPr>
      </p:sp>
      <p:sp>
        <p:nvSpPr>
          <p:cNvPr id="9" name="Text 7"/>
          <p:cNvSpPr/>
          <p:nvPr/>
        </p:nvSpPr>
        <p:spPr>
          <a:xfrm>
            <a:off x="6537960" y="1417320"/>
            <a:ext cx="4846320" cy="457200"/>
          </a:xfrm>
          <a:prstGeom prst="rect">
            <a:avLst/>
          </a:prstGeom>
          <a:noFill/>
          <a:ln/>
        </p:spPr>
        <p:txBody>
          <a:bodyPr wrap="square" rtlCol="0" anchor="ctr"/>
          <a:lstStyle/>
          <a:p>
            <a:pPr indent="0" marL="0">
              <a:buNone/>
            </a:pPr>
            <a:r>
              <a:rPr lang="en-US" sz="1700" b="1" dirty="0">
                <a:solidFill>
                  <a:srgbClr val="FFFFFF"/>
                </a:solidFill>
              </a:rPr>
              <a:t>Gewerbliche Tochter-GmbH</a:t>
            </a:r>
            <a:endParaRPr lang="en-US" sz="1700" dirty="0"/>
          </a:p>
        </p:txBody>
      </p:sp>
      <p:sp>
        <p:nvSpPr>
          <p:cNvPr id="10" name="Text 8"/>
          <p:cNvSpPr/>
          <p:nvPr/>
        </p:nvSpPr>
        <p:spPr>
          <a:xfrm>
            <a:off x="6537960" y="1965960"/>
            <a:ext cx="4846320" cy="3566160"/>
          </a:xfrm>
          <a:prstGeom prst="rect">
            <a:avLst/>
          </a:prstGeom>
          <a:noFill/>
          <a:ln/>
        </p:spPr>
        <p:txBody>
          <a:bodyPr wrap="square" rtlCol="0" anchor="t"/>
          <a:lstStyle/>
          <a:p>
            <a:pPr marL="342900" indent="-342900">
              <a:spcAft>
                <a:spcPts val="1000"/>
              </a:spcAft>
              <a:buSzPct val="100000"/>
              <a:buChar char="•"/>
            </a:pPr>
            <a:r>
              <a:rPr lang="en-US" sz="1300" dirty="0">
                <a:solidFill>
                  <a:srgbClr val="E8F0F2"/>
                </a:solidFill>
              </a:rPr>
              <a:t>Internationale Rekrutierung &amp; Vermittlung (Employer-Pays-Pauschalen, Talentpool-Portal)</a:t>
            </a:r>
            <a:endParaRPr lang="en-US" sz="1300" dirty="0"/>
          </a:p>
          <a:p>
            <a:pPr marL="342900" indent="-342900">
              <a:spcAft>
                <a:spcPts val="1000"/>
              </a:spcAft>
              <a:buSzPct val="100000"/>
              <a:buChar char="•"/>
            </a:pPr>
            <a:r>
              <a:rPr lang="en-US" sz="1300" dirty="0">
                <a:solidFill>
                  <a:srgbClr val="E8F0F2"/>
                </a:solidFill>
              </a:rPr>
              <a:t>KAȲȲA OS: perspektivische Lizenzierung an andere Träger und Kommunen – Software-Asset mit eigenem Marktpotenzial</a:t>
            </a:r>
            <a:endParaRPr lang="en-US" sz="1300" dirty="0"/>
          </a:p>
          <a:p>
            <a:pPr marL="342900" indent="-342900">
              <a:spcAft>
                <a:spcPts val="1000"/>
              </a:spcAft>
              <a:buSzPct val="100000"/>
              <a:buChar char="•"/>
            </a:pPr>
            <a:r>
              <a:rPr lang="en-US" sz="1300" dirty="0">
                <a:solidFill>
                  <a:srgbClr val="E8F0F2"/>
                </a:solidFill>
              </a:rPr>
              <a:t>Ihr Beteiligungsvehikel: Eigenkapital an der Tochter. Planszenario: Jahr 3 ca. 60 Vermittlungen (~600 T€ Umsatz, ~270 T€ DB), Jahr 5 ca. 200 Vermittlungen plus Lizenz-Pilot (über 2 Mio. € Umsatz) – dividendenfähig ab Jahr 3, Ziel-Eigenkapitalrendite 20–30 % p. a. ab Jahr 4; Software-Lizenzierung als zusätzlicher Multiple-Hebel beim Exit aus der Tochter</a:t>
            </a:r>
            <a:endParaRPr lang="en-US" sz="1300" dirty="0"/>
          </a:p>
        </p:txBody>
      </p:sp>
      <p:sp>
        <p:nvSpPr>
          <p:cNvPr id="11" name="Text 9"/>
          <p:cNvSpPr/>
          <p:nvPr/>
        </p:nvSpPr>
        <p:spPr>
          <a:xfrm>
            <a:off x="548640" y="5943600"/>
            <a:ext cx="11091672" cy="548640"/>
          </a:xfrm>
          <a:prstGeom prst="rect">
            <a:avLst/>
          </a:prstGeom>
          <a:noFill/>
          <a:ln/>
        </p:spPr>
        <p:txBody>
          <a:bodyPr wrap="square" rtlCol="0" anchor="ctr"/>
          <a:lstStyle/>
          <a:p>
            <a:pPr indent="0" marL="0">
              <a:buNone/>
            </a:pPr>
            <a:r>
              <a:rPr lang="en-US" sz="1250" i="1" dirty="0">
                <a:solidFill>
                  <a:srgbClr val="1F4E5F"/>
                </a:solidFill>
              </a:rPr>
              <a:t>Für den gGmbH-Anteil: besichertes Gesellschafterdarlehen mit fester Verzinsung (Zielkorridor 6–8 % p. a.) plus Immobilienwert des Wohncampus. Rendite und Wirkung – sauber getrennt, beide bankfähig kalkuliert.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indent="0" marL="0">
              <a:buNone/>
            </a:pPr>
            <a:r>
              <a:rPr lang="en-US" sz="3000" b="1" dirty="0">
                <a:solidFill>
                  <a:srgbClr val="1F4E5F"/>
                </a:solidFill>
                <a:latin typeface="Calibri" pitchFamily="34" charset="0"/>
                <a:ea typeface="Calibri" pitchFamily="34" charset="-122"/>
                <a:cs typeface="Calibri" pitchFamily="34" charset="-120"/>
              </a:rPr>
              <a:t>Die Runde: 1,5 Mio. € für Gründung, MVP und die ersten Maßnahmen</a:t>
            </a:r>
            <a:endParaRPr lang="en-US" sz="3000" dirty="0"/>
          </a:p>
        </p:txBody>
      </p:sp>
      <p:sp>
        <p:nvSpPr>
          <p:cNvPr id="3" name="Text 1"/>
          <p:cNvSpPr/>
          <p:nvPr/>
        </p:nvSpPr>
        <p:spPr>
          <a:xfrm>
            <a:off x="548640" y="6473952"/>
            <a:ext cx="7315200" cy="274320"/>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KAȲȲA (Arbeitstitel) · Investorenpräsentation · vertraulich</a:t>
            </a:r>
            <a:endParaRPr lang="en-US" sz="900" dirty="0"/>
          </a:p>
        </p:txBody>
      </p:sp>
      <p:sp>
        <p:nvSpPr>
          <p:cNvPr id="4" name="Text 2"/>
          <p:cNvSpPr/>
          <p:nvPr/>
        </p:nvSpPr>
        <p:spPr>
          <a:xfrm>
            <a:off x="11274552" y="6473952"/>
            <a:ext cx="365760" cy="274320"/>
          </a:xfrm>
          <a:prstGeom prst="rect">
            <a:avLst/>
          </a:prstGeom>
          <a:noFill/>
          <a:ln/>
        </p:spPr>
        <p:txBody>
          <a:bodyPr wrap="square" rtlCol="0" anchor="ctr"/>
          <a:lstStyle/>
          <a:p>
            <a:pPr algn="r" indent="0" marL="0">
              <a:buNone/>
            </a:pPr>
            <a:r>
              <a:rPr lang="en-US" sz="900" dirty="0">
                <a:solidFill>
                  <a:srgbClr val="666666"/>
                </a:solidFill>
              </a:rPr>
              <a:t>10</a:t>
            </a:r>
            <a:endParaRPr lang="en-US" sz="900" dirty="0"/>
          </a:p>
        </p:txBody>
      </p:sp>
      <p:sp>
        <p:nvSpPr>
          <p:cNvPr id="5" name="Shape 3"/>
          <p:cNvSpPr/>
          <p:nvPr/>
        </p:nvSpPr>
        <p:spPr>
          <a:xfrm>
            <a:off x="548640" y="1234440"/>
            <a:ext cx="5394960" cy="731520"/>
          </a:xfrm>
          <a:prstGeom prst="roundRect">
            <a:avLst>
              <a:gd name="adj" fmla="val 10000"/>
            </a:avLst>
          </a:prstGeom>
          <a:solidFill>
            <a:srgbClr val="EDF4F6"/>
          </a:solidFill>
          <a:ln w="6350">
            <a:solidFill>
              <a:srgbClr val="DDDDDD"/>
            </a:solidFill>
            <a:prstDash val="solid"/>
          </a:ln>
        </p:spPr>
      </p:sp>
      <p:sp>
        <p:nvSpPr>
          <p:cNvPr id="6" name="Text 4"/>
          <p:cNvSpPr/>
          <p:nvPr/>
        </p:nvSpPr>
        <p:spPr>
          <a:xfrm>
            <a:off x="731520" y="1307592"/>
            <a:ext cx="1554480" cy="548640"/>
          </a:xfrm>
          <a:prstGeom prst="rect">
            <a:avLst/>
          </a:prstGeom>
          <a:noFill/>
          <a:ln/>
        </p:spPr>
        <p:txBody>
          <a:bodyPr wrap="square" rtlCol="0" anchor="ctr"/>
          <a:lstStyle/>
          <a:p>
            <a:pPr indent="0" marL="0">
              <a:buNone/>
            </a:pPr>
            <a:r>
              <a:rPr lang="en-US" sz="1700" b="1" dirty="0">
                <a:solidFill>
                  <a:srgbClr val="1F4E5F"/>
                </a:solidFill>
              </a:rPr>
              <a:t>0,40 Mio. €</a:t>
            </a:r>
            <a:endParaRPr lang="en-US" sz="1700" dirty="0"/>
          </a:p>
        </p:txBody>
      </p:sp>
      <p:sp>
        <p:nvSpPr>
          <p:cNvPr id="7" name="Text 5"/>
          <p:cNvSpPr/>
          <p:nvPr/>
        </p:nvSpPr>
        <p:spPr>
          <a:xfrm>
            <a:off x="2377440" y="1307592"/>
            <a:ext cx="3474720" cy="585216"/>
          </a:xfrm>
          <a:prstGeom prst="rect">
            <a:avLst/>
          </a:prstGeom>
          <a:noFill/>
          <a:ln/>
        </p:spPr>
        <p:txBody>
          <a:bodyPr wrap="square" rtlCol="0" anchor="ctr"/>
          <a:lstStyle/>
          <a:p>
            <a:pPr indent="0" marL="0">
              <a:buNone/>
            </a:pPr>
            <a:r>
              <a:rPr lang="en-US" sz="1200" dirty="0">
                <a:solidFill>
                  <a:srgbClr val="333333"/>
                </a:solidFill>
              </a:rPr>
              <a:t>Gründung, Zulassungen (AZAV), Standort, Team-Aufbau</a:t>
            </a:r>
            <a:endParaRPr lang="en-US" sz="1200" dirty="0"/>
          </a:p>
        </p:txBody>
      </p:sp>
      <p:sp>
        <p:nvSpPr>
          <p:cNvPr id="8" name="Shape 6"/>
          <p:cNvSpPr/>
          <p:nvPr/>
        </p:nvSpPr>
        <p:spPr>
          <a:xfrm>
            <a:off x="548640" y="2103120"/>
            <a:ext cx="5394960" cy="731520"/>
          </a:xfrm>
          <a:prstGeom prst="roundRect">
            <a:avLst>
              <a:gd name="adj" fmla="val 10000"/>
            </a:avLst>
          </a:prstGeom>
          <a:solidFill>
            <a:srgbClr val="1F4E5F"/>
          </a:solidFill>
          <a:ln w="6350">
            <a:solidFill>
              <a:srgbClr val="DDDDDD"/>
            </a:solidFill>
            <a:prstDash val="solid"/>
          </a:ln>
        </p:spPr>
      </p:sp>
      <p:sp>
        <p:nvSpPr>
          <p:cNvPr id="9" name="Text 7"/>
          <p:cNvSpPr/>
          <p:nvPr/>
        </p:nvSpPr>
        <p:spPr>
          <a:xfrm>
            <a:off x="731520" y="2176272"/>
            <a:ext cx="1554480" cy="548640"/>
          </a:xfrm>
          <a:prstGeom prst="rect">
            <a:avLst/>
          </a:prstGeom>
          <a:noFill/>
          <a:ln/>
        </p:spPr>
        <p:txBody>
          <a:bodyPr wrap="square" rtlCol="0" anchor="ctr"/>
          <a:lstStyle/>
          <a:p>
            <a:pPr indent="0" marL="0">
              <a:buNone/>
            </a:pPr>
            <a:r>
              <a:rPr lang="en-US" sz="1700" b="1" dirty="0">
                <a:solidFill>
                  <a:srgbClr val="FFFFFF"/>
                </a:solidFill>
              </a:rPr>
              <a:t>0,55 Mio. €</a:t>
            </a:r>
            <a:endParaRPr lang="en-US" sz="1700" dirty="0"/>
          </a:p>
        </p:txBody>
      </p:sp>
      <p:sp>
        <p:nvSpPr>
          <p:cNvPr id="10" name="Text 8"/>
          <p:cNvSpPr/>
          <p:nvPr/>
        </p:nvSpPr>
        <p:spPr>
          <a:xfrm>
            <a:off x="2377440" y="2176272"/>
            <a:ext cx="3474720" cy="585216"/>
          </a:xfrm>
          <a:prstGeom prst="rect">
            <a:avLst/>
          </a:prstGeom>
          <a:noFill/>
          <a:ln/>
        </p:spPr>
        <p:txBody>
          <a:bodyPr wrap="square" rtlCol="0" anchor="ctr"/>
          <a:lstStyle/>
          <a:p>
            <a:pPr indent="0" marL="0">
              <a:buNone/>
            </a:pPr>
            <a:r>
              <a:rPr lang="en-US" sz="1200" dirty="0">
                <a:solidFill>
                  <a:srgbClr val="E8F0F2"/>
                </a:solidFill>
              </a:rPr>
              <a:t>KAȲȲA OS Stufe 1 (MVP) – Lastenheft ausschreibungsfertig</a:t>
            </a:r>
            <a:endParaRPr lang="en-US" sz="1200" dirty="0"/>
          </a:p>
        </p:txBody>
      </p:sp>
      <p:sp>
        <p:nvSpPr>
          <p:cNvPr id="11" name="Shape 9"/>
          <p:cNvSpPr/>
          <p:nvPr/>
        </p:nvSpPr>
        <p:spPr>
          <a:xfrm>
            <a:off x="548640" y="2971800"/>
            <a:ext cx="5394960" cy="731520"/>
          </a:xfrm>
          <a:prstGeom prst="roundRect">
            <a:avLst>
              <a:gd name="adj" fmla="val 10000"/>
            </a:avLst>
          </a:prstGeom>
          <a:solidFill>
            <a:srgbClr val="EDF4F6"/>
          </a:solidFill>
          <a:ln w="6350">
            <a:solidFill>
              <a:srgbClr val="DDDDDD"/>
            </a:solidFill>
            <a:prstDash val="solid"/>
          </a:ln>
        </p:spPr>
      </p:sp>
      <p:sp>
        <p:nvSpPr>
          <p:cNvPr id="12" name="Text 10"/>
          <p:cNvSpPr/>
          <p:nvPr/>
        </p:nvSpPr>
        <p:spPr>
          <a:xfrm>
            <a:off x="731520" y="3044952"/>
            <a:ext cx="1554480" cy="548640"/>
          </a:xfrm>
          <a:prstGeom prst="rect">
            <a:avLst/>
          </a:prstGeom>
          <a:noFill/>
          <a:ln/>
        </p:spPr>
        <p:txBody>
          <a:bodyPr wrap="square" rtlCol="0" anchor="ctr"/>
          <a:lstStyle/>
          <a:p>
            <a:pPr indent="0" marL="0">
              <a:buNone/>
            </a:pPr>
            <a:r>
              <a:rPr lang="en-US" sz="1700" b="1" dirty="0">
                <a:solidFill>
                  <a:srgbClr val="1F4E5F"/>
                </a:solidFill>
              </a:rPr>
              <a:t>0,30 Mio. €</a:t>
            </a:r>
            <a:endParaRPr lang="en-US" sz="1700" dirty="0"/>
          </a:p>
        </p:txBody>
      </p:sp>
      <p:sp>
        <p:nvSpPr>
          <p:cNvPr id="13" name="Text 11"/>
          <p:cNvSpPr/>
          <p:nvPr/>
        </p:nvSpPr>
        <p:spPr>
          <a:xfrm>
            <a:off x="2377440" y="3044952"/>
            <a:ext cx="3474720" cy="585216"/>
          </a:xfrm>
          <a:prstGeom prst="rect">
            <a:avLst/>
          </a:prstGeom>
          <a:noFill/>
          <a:ln/>
        </p:spPr>
        <p:txBody>
          <a:bodyPr wrap="square" rtlCol="0" anchor="ctr"/>
          <a:lstStyle/>
          <a:p>
            <a:pPr indent="0" marL="0">
              <a:buNone/>
            </a:pPr>
            <a:r>
              <a:rPr lang="en-US" sz="1200" dirty="0">
                <a:solidFill>
                  <a:srgbClr val="333333"/>
                </a:solidFill>
              </a:rPr>
              <a:t>Anlaufphase &amp; Liquiditätspuffer (Abrechnung läuft nach)</a:t>
            </a:r>
            <a:endParaRPr lang="en-US" sz="1200" dirty="0"/>
          </a:p>
        </p:txBody>
      </p:sp>
      <p:sp>
        <p:nvSpPr>
          <p:cNvPr id="14" name="Shape 12"/>
          <p:cNvSpPr/>
          <p:nvPr/>
        </p:nvSpPr>
        <p:spPr>
          <a:xfrm>
            <a:off x="548640" y="3840480"/>
            <a:ext cx="5394960" cy="731520"/>
          </a:xfrm>
          <a:prstGeom prst="roundRect">
            <a:avLst>
              <a:gd name="adj" fmla="val 10000"/>
            </a:avLst>
          </a:prstGeom>
          <a:solidFill>
            <a:srgbClr val="EDF4F6"/>
          </a:solidFill>
          <a:ln w="6350">
            <a:solidFill>
              <a:srgbClr val="DDDDDD"/>
            </a:solidFill>
            <a:prstDash val="solid"/>
          </a:ln>
        </p:spPr>
      </p:sp>
      <p:sp>
        <p:nvSpPr>
          <p:cNvPr id="15" name="Text 13"/>
          <p:cNvSpPr/>
          <p:nvPr/>
        </p:nvSpPr>
        <p:spPr>
          <a:xfrm>
            <a:off x="731520" y="3913632"/>
            <a:ext cx="1554480" cy="548640"/>
          </a:xfrm>
          <a:prstGeom prst="rect">
            <a:avLst/>
          </a:prstGeom>
          <a:noFill/>
          <a:ln/>
        </p:spPr>
        <p:txBody>
          <a:bodyPr wrap="square" rtlCol="0" anchor="ctr"/>
          <a:lstStyle/>
          <a:p>
            <a:pPr indent="0" marL="0">
              <a:buNone/>
            </a:pPr>
            <a:r>
              <a:rPr lang="en-US" sz="1700" b="1" dirty="0">
                <a:solidFill>
                  <a:srgbClr val="1F4E5F"/>
                </a:solidFill>
              </a:rPr>
              <a:t>0,25 Mio. €</a:t>
            </a:r>
            <a:endParaRPr lang="en-US" sz="1700" dirty="0"/>
          </a:p>
        </p:txBody>
      </p:sp>
      <p:sp>
        <p:nvSpPr>
          <p:cNvPr id="16" name="Text 14"/>
          <p:cNvSpPr/>
          <p:nvPr/>
        </p:nvSpPr>
        <p:spPr>
          <a:xfrm>
            <a:off x="2377440" y="3913632"/>
            <a:ext cx="3474720" cy="585216"/>
          </a:xfrm>
          <a:prstGeom prst="rect">
            <a:avLst/>
          </a:prstGeom>
          <a:noFill/>
          <a:ln/>
        </p:spPr>
        <p:txBody>
          <a:bodyPr wrap="square" rtlCol="0" anchor="ctr"/>
          <a:lstStyle/>
          <a:p>
            <a:pPr indent="0" marL="0">
              <a:buNone/>
            </a:pPr>
            <a:r>
              <a:rPr lang="en-US" sz="1200" dirty="0">
                <a:solidFill>
                  <a:srgbClr val="333333"/>
                </a:solidFill>
              </a:rPr>
              <a:t>International: Partneraufbau Philippinen, Pilotklasse, Gütezeichen</a:t>
            </a:r>
            <a:endParaRPr lang="en-US" sz="1200" dirty="0"/>
          </a:p>
        </p:txBody>
      </p:sp>
      <p:sp>
        <p:nvSpPr>
          <p:cNvPr id="17" name="Text 15"/>
          <p:cNvSpPr/>
          <p:nvPr/>
        </p:nvSpPr>
        <p:spPr>
          <a:xfrm>
            <a:off x="6400800" y="1234440"/>
            <a:ext cx="5120640" cy="457200"/>
          </a:xfrm>
          <a:prstGeom prst="rect">
            <a:avLst/>
          </a:prstGeom>
          <a:noFill/>
          <a:ln/>
        </p:spPr>
        <p:txBody>
          <a:bodyPr wrap="square" rtlCol="0" anchor="ctr"/>
          <a:lstStyle/>
          <a:p>
            <a:pPr indent="0" marL="0">
              <a:buNone/>
            </a:pPr>
            <a:r>
              <a:rPr lang="en-US" sz="1700" b="1" dirty="0">
                <a:solidFill>
                  <a:srgbClr val="1F4E5F"/>
                </a:solidFill>
              </a:rPr>
              <a:t>Meilensteine</a:t>
            </a:r>
            <a:endParaRPr lang="en-US" sz="1700" dirty="0"/>
          </a:p>
        </p:txBody>
      </p:sp>
      <p:sp>
        <p:nvSpPr>
          <p:cNvPr id="18" name="Shape 16"/>
          <p:cNvSpPr/>
          <p:nvPr/>
        </p:nvSpPr>
        <p:spPr>
          <a:xfrm>
            <a:off x="6400800" y="1783080"/>
            <a:ext cx="1005840" cy="502920"/>
          </a:xfrm>
          <a:prstGeom prst="roundRect">
            <a:avLst>
              <a:gd name="adj" fmla="val 14545"/>
            </a:avLst>
          </a:prstGeom>
          <a:solidFill>
            <a:srgbClr val="2E6B2E"/>
          </a:solidFill>
          <a:ln/>
        </p:spPr>
      </p:sp>
      <p:sp>
        <p:nvSpPr>
          <p:cNvPr id="19" name="Text 17"/>
          <p:cNvSpPr/>
          <p:nvPr/>
        </p:nvSpPr>
        <p:spPr>
          <a:xfrm>
            <a:off x="6400800" y="1783080"/>
            <a:ext cx="1005840" cy="502920"/>
          </a:xfrm>
          <a:prstGeom prst="rect">
            <a:avLst/>
          </a:prstGeom>
          <a:noFill/>
          <a:ln/>
        </p:spPr>
        <p:txBody>
          <a:bodyPr wrap="square" rtlCol="0" anchor="ctr"/>
          <a:lstStyle/>
          <a:p>
            <a:pPr algn="ctr" indent="0" marL="0">
              <a:buNone/>
            </a:pPr>
            <a:r>
              <a:rPr lang="en-US" sz="1200" b="1" dirty="0">
                <a:solidFill>
                  <a:srgbClr val="FFFFFF"/>
                </a:solidFill>
              </a:rPr>
              <a:t>M 6</a:t>
            </a:r>
            <a:endParaRPr lang="en-US" sz="1200" dirty="0"/>
          </a:p>
        </p:txBody>
      </p:sp>
      <p:sp>
        <p:nvSpPr>
          <p:cNvPr id="20" name="Text 18"/>
          <p:cNvSpPr/>
          <p:nvPr/>
        </p:nvSpPr>
        <p:spPr>
          <a:xfrm>
            <a:off x="7543800" y="1728216"/>
            <a:ext cx="4069080" cy="658368"/>
          </a:xfrm>
          <a:prstGeom prst="rect">
            <a:avLst/>
          </a:prstGeom>
          <a:noFill/>
          <a:ln/>
        </p:spPr>
        <p:txBody>
          <a:bodyPr wrap="square" rtlCol="0" anchor="ctr"/>
          <a:lstStyle/>
          <a:p>
            <a:pPr indent="0" marL="0">
              <a:buNone/>
            </a:pPr>
            <a:r>
              <a:rPr lang="en-US" sz="1200" dirty="0">
                <a:solidFill>
                  <a:srgbClr val="333333"/>
                </a:solidFill>
              </a:rPr>
              <a:t>AZAV-Trägerzulassung, erste Maßnahmenzulassungen</a:t>
            </a:r>
            <a:endParaRPr lang="en-US" sz="1200" dirty="0"/>
          </a:p>
        </p:txBody>
      </p:sp>
      <p:sp>
        <p:nvSpPr>
          <p:cNvPr id="21" name="Shape 19"/>
          <p:cNvSpPr/>
          <p:nvPr/>
        </p:nvSpPr>
        <p:spPr>
          <a:xfrm>
            <a:off x="6400800" y="2587752"/>
            <a:ext cx="1005840" cy="502920"/>
          </a:xfrm>
          <a:prstGeom prst="roundRect">
            <a:avLst>
              <a:gd name="adj" fmla="val 14545"/>
            </a:avLst>
          </a:prstGeom>
          <a:solidFill>
            <a:srgbClr val="2E6B2E"/>
          </a:solidFill>
          <a:ln/>
        </p:spPr>
      </p:sp>
      <p:sp>
        <p:nvSpPr>
          <p:cNvPr id="22" name="Text 20"/>
          <p:cNvSpPr/>
          <p:nvPr/>
        </p:nvSpPr>
        <p:spPr>
          <a:xfrm>
            <a:off x="6400800" y="2587752"/>
            <a:ext cx="1005840" cy="502920"/>
          </a:xfrm>
          <a:prstGeom prst="rect">
            <a:avLst/>
          </a:prstGeom>
          <a:noFill/>
          <a:ln/>
        </p:spPr>
        <p:txBody>
          <a:bodyPr wrap="square" rtlCol="0" anchor="ctr"/>
          <a:lstStyle/>
          <a:p>
            <a:pPr algn="ctr" indent="0" marL="0">
              <a:buNone/>
            </a:pPr>
            <a:r>
              <a:rPr lang="en-US" sz="1200" b="1" dirty="0">
                <a:solidFill>
                  <a:srgbClr val="FFFFFF"/>
                </a:solidFill>
              </a:rPr>
              <a:t>M 9</a:t>
            </a:r>
            <a:endParaRPr lang="en-US" sz="1200" dirty="0"/>
          </a:p>
        </p:txBody>
      </p:sp>
      <p:sp>
        <p:nvSpPr>
          <p:cNvPr id="23" name="Text 21"/>
          <p:cNvSpPr/>
          <p:nvPr/>
        </p:nvSpPr>
        <p:spPr>
          <a:xfrm>
            <a:off x="7543800" y="2532888"/>
            <a:ext cx="4069080" cy="658368"/>
          </a:xfrm>
          <a:prstGeom prst="rect">
            <a:avLst/>
          </a:prstGeom>
          <a:noFill/>
          <a:ln/>
        </p:spPr>
        <p:txBody>
          <a:bodyPr wrap="square" rtlCol="0" anchor="ctr"/>
          <a:lstStyle/>
          <a:p>
            <a:pPr indent="0" marL="0">
              <a:buNone/>
            </a:pPr>
            <a:r>
              <a:rPr lang="en-US" sz="1200" dirty="0">
                <a:solidFill>
                  <a:srgbClr val="333333"/>
                </a:solidFill>
              </a:rPr>
              <a:t>KAȲȲA OS MVP live – erste Maßnahme läuft komplett digital</a:t>
            </a:r>
            <a:endParaRPr lang="en-US" sz="1200" dirty="0"/>
          </a:p>
        </p:txBody>
      </p:sp>
      <p:sp>
        <p:nvSpPr>
          <p:cNvPr id="24" name="Shape 22"/>
          <p:cNvSpPr/>
          <p:nvPr/>
        </p:nvSpPr>
        <p:spPr>
          <a:xfrm>
            <a:off x="6400800" y="3392424"/>
            <a:ext cx="1005840" cy="502920"/>
          </a:xfrm>
          <a:prstGeom prst="roundRect">
            <a:avLst>
              <a:gd name="adj" fmla="val 14545"/>
            </a:avLst>
          </a:prstGeom>
          <a:solidFill>
            <a:srgbClr val="2E6B2E"/>
          </a:solidFill>
          <a:ln/>
        </p:spPr>
      </p:sp>
      <p:sp>
        <p:nvSpPr>
          <p:cNvPr id="25" name="Text 23"/>
          <p:cNvSpPr/>
          <p:nvPr/>
        </p:nvSpPr>
        <p:spPr>
          <a:xfrm>
            <a:off x="6400800" y="3392424"/>
            <a:ext cx="1005840" cy="502920"/>
          </a:xfrm>
          <a:prstGeom prst="rect">
            <a:avLst/>
          </a:prstGeom>
          <a:noFill/>
          <a:ln/>
        </p:spPr>
        <p:txBody>
          <a:bodyPr wrap="square" rtlCol="0" anchor="ctr"/>
          <a:lstStyle/>
          <a:p>
            <a:pPr algn="ctr" indent="0" marL="0">
              <a:buNone/>
            </a:pPr>
            <a:r>
              <a:rPr lang="en-US" sz="1200" b="1" dirty="0">
                <a:solidFill>
                  <a:srgbClr val="FFFFFF"/>
                </a:solidFill>
              </a:rPr>
              <a:t>M 14</a:t>
            </a:r>
            <a:endParaRPr lang="en-US" sz="1200" dirty="0"/>
          </a:p>
        </p:txBody>
      </p:sp>
      <p:sp>
        <p:nvSpPr>
          <p:cNvPr id="26" name="Text 24"/>
          <p:cNvSpPr/>
          <p:nvPr/>
        </p:nvSpPr>
        <p:spPr>
          <a:xfrm>
            <a:off x="7543800" y="3337560"/>
            <a:ext cx="4069080" cy="658368"/>
          </a:xfrm>
          <a:prstGeom prst="rect">
            <a:avLst/>
          </a:prstGeom>
          <a:noFill/>
          <a:ln/>
        </p:spPr>
        <p:txBody>
          <a:bodyPr wrap="square" rtlCol="0" anchor="ctr"/>
          <a:lstStyle/>
          <a:p>
            <a:pPr indent="0" marL="0">
              <a:buNone/>
            </a:pPr>
            <a:r>
              <a:rPr lang="en-US" sz="1200" dirty="0">
                <a:solidFill>
                  <a:srgbClr val="333333"/>
                </a:solidFill>
              </a:rPr>
              <a:t>Pilotklasse Manila (25 Pflegekräfte), erste REZ-Lose</a:t>
            </a:r>
            <a:endParaRPr lang="en-US" sz="1200" dirty="0"/>
          </a:p>
        </p:txBody>
      </p:sp>
      <p:sp>
        <p:nvSpPr>
          <p:cNvPr id="27" name="Shape 25"/>
          <p:cNvSpPr/>
          <p:nvPr/>
        </p:nvSpPr>
        <p:spPr>
          <a:xfrm>
            <a:off x="6400800" y="4197096"/>
            <a:ext cx="1005840" cy="502920"/>
          </a:xfrm>
          <a:prstGeom prst="roundRect">
            <a:avLst>
              <a:gd name="adj" fmla="val 14545"/>
            </a:avLst>
          </a:prstGeom>
          <a:solidFill>
            <a:srgbClr val="2E6B2E"/>
          </a:solidFill>
          <a:ln/>
        </p:spPr>
      </p:sp>
      <p:sp>
        <p:nvSpPr>
          <p:cNvPr id="28" name="Text 26"/>
          <p:cNvSpPr/>
          <p:nvPr/>
        </p:nvSpPr>
        <p:spPr>
          <a:xfrm>
            <a:off x="6400800" y="4197096"/>
            <a:ext cx="1005840" cy="502920"/>
          </a:xfrm>
          <a:prstGeom prst="rect">
            <a:avLst/>
          </a:prstGeom>
          <a:noFill/>
          <a:ln/>
        </p:spPr>
        <p:txBody>
          <a:bodyPr wrap="square" rtlCol="0" anchor="ctr"/>
          <a:lstStyle/>
          <a:p>
            <a:pPr algn="ctr" indent="0" marL="0">
              <a:buNone/>
            </a:pPr>
            <a:r>
              <a:rPr lang="en-US" sz="1200" b="1" dirty="0">
                <a:solidFill>
                  <a:srgbClr val="FFFFFF"/>
                </a:solidFill>
              </a:rPr>
              <a:t>M 18–24</a:t>
            </a:r>
            <a:endParaRPr lang="en-US" sz="1200" dirty="0"/>
          </a:p>
        </p:txBody>
      </p:sp>
      <p:sp>
        <p:nvSpPr>
          <p:cNvPr id="29" name="Text 27"/>
          <p:cNvSpPr/>
          <p:nvPr/>
        </p:nvSpPr>
        <p:spPr>
          <a:xfrm>
            <a:off x="7543800" y="4142232"/>
            <a:ext cx="4069080" cy="658368"/>
          </a:xfrm>
          <a:prstGeom prst="rect">
            <a:avLst/>
          </a:prstGeom>
          <a:noFill/>
          <a:ln/>
        </p:spPr>
        <p:txBody>
          <a:bodyPr wrap="square" rtlCol="0" anchor="ctr"/>
          <a:lstStyle/>
          <a:p>
            <a:pPr indent="0" marL="0">
              <a:buNone/>
            </a:pPr>
            <a:r>
              <a:rPr lang="en-US" sz="1200" dirty="0">
                <a:solidFill>
                  <a:srgbClr val="333333"/>
                </a:solidFill>
              </a:rPr>
              <a:t>Break-even Inland; erste Vermittlungserlöse; Stufe-2-Entwicklung</a:t>
            </a:r>
            <a:endParaRPr lang="en-US" sz="1200" dirty="0"/>
          </a:p>
        </p:txBody>
      </p:sp>
      <p:sp>
        <p:nvSpPr>
          <p:cNvPr id="30" name="Shape 28"/>
          <p:cNvSpPr/>
          <p:nvPr/>
        </p:nvSpPr>
        <p:spPr>
          <a:xfrm>
            <a:off x="6400800" y="5001768"/>
            <a:ext cx="1005840" cy="502920"/>
          </a:xfrm>
          <a:prstGeom prst="roundRect">
            <a:avLst>
              <a:gd name="adj" fmla="val 14545"/>
            </a:avLst>
          </a:prstGeom>
          <a:solidFill>
            <a:srgbClr val="2E6B2E"/>
          </a:solidFill>
          <a:ln/>
        </p:spPr>
      </p:sp>
      <p:sp>
        <p:nvSpPr>
          <p:cNvPr id="31" name="Text 29"/>
          <p:cNvSpPr/>
          <p:nvPr/>
        </p:nvSpPr>
        <p:spPr>
          <a:xfrm>
            <a:off x="6400800" y="5001768"/>
            <a:ext cx="1005840" cy="502920"/>
          </a:xfrm>
          <a:prstGeom prst="rect">
            <a:avLst/>
          </a:prstGeom>
          <a:noFill/>
          <a:ln/>
        </p:spPr>
        <p:txBody>
          <a:bodyPr wrap="square" rtlCol="0" anchor="ctr"/>
          <a:lstStyle/>
          <a:p>
            <a:pPr algn="ctr" indent="0" marL="0">
              <a:buNone/>
            </a:pPr>
            <a:r>
              <a:rPr lang="en-US" sz="1200" b="1" dirty="0">
                <a:solidFill>
                  <a:srgbClr val="FFFFFF"/>
                </a:solidFill>
              </a:rPr>
              <a:t>ab M 24</a:t>
            </a:r>
            <a:endParaRPr lang="en-US" sz="1200" dirty="0"/>
          </a:p>
        </p:txBody>
      </p:sp>
      <p:sp>
        <p:nvSpPr>
          <p:cNvPr id="32" name="Text 30"/>
          <p:cNvSpPr/>
          <p:nvPr/>
        </p:nvSpPr>
        <p:spPr>
          <a:xfrm>
            <a:off x="7543800" y="4946904"/>
            <a:ext cx="4069080" cy="658368"/>
          </a:xfrm>
          <a:prstGeom prst="rect">
            <a:avLst/>
          </a:prstGeom>
          <a:noFill/>
          <a:ln/>
        </p:spPr>
        <p:txBody>
          <a:bodyPr wrap="square" rtlCol="0" anchor="ctr"/>
          <a:lstStyle/>
          <a:p>
            <a:pPr indent="0" marL="0">
              <a:buNone/>
            </a:pPr>
            <a:r>
              <a:rPr lang="en-US" sz="1200" dirty="0">
                <a:solidFill>
                  <a:srgbClr val="333333"/>
                </a:solidFill>
              </a:rPr>
              <a:t>Skalierung, Prüfung Übernahme Reha-/Pflegeeinrichtung, Lizenz-Pilot KAȲȲA OS</a:t>
            </a:r>
            <a:endParaRPr lang="en-US" sz="1200" dirty="0"/>
          </a:p>
        </p:txBody>
      </p:sp>
      <p:sp>
        <p:nvSpPr>
          <p:cNvPr id="33" name="Text 31"/>
          <p:cNvSpPr/>
          <p:nvPr/>
        </p:nvSpPr>
        <p:spPr>
          <a:xfrm>
            <a:off x="548640" y="5806440"/>
            <a:ext cx="11091672" cy="457200"/>
          </a:xfrm>
          <a:prstGeom prst="rect">
            <a:avLst/>
          </a:prstGeom>
          <a:noFill/>
          <a:ln/>
        </p:spPr>
        <p:txBody>
          <a:bodyPr wrap="square"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Weitere Stufen (KAȲȲA OS 2+3, Einrichtungen) werden aus Cashflow, Förderkrediten und einer möglichen zweiten Runde finanziert.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4E5F"/>
        </a:solidFill>
      </p:bgPr>
    </p:bg>
    <p:spTree>
      <p:nvGrpSpPr>
        <p:cNvPr id="1" name=""/>
        <p:cNvGrpSpPr/>
        <p:nvPr/>
      </p:nvGrpSpPr>
      <p:grpSpPr>
        <a:xfrm>
          <a:off x="0" y="0"/>
          <a:ext cx="0" cy="0"/>
          <a:chOff x="0" y="0"/>
          <a:chExt cx="0" cy="0"/>
        </a:xfrm>
      </p:grpSpPr>
      <p:sp>
        <p:nvSpPr>
          <p:cNvPr id="2" name="Text 0"/>
          <p:cNvSpPr/>
          <p:nvPr/>
        </p:nvSpPr>
        <p:spPr>
          <a:xfrm>
            <a:off x="731520" y="1554480"/>
            <a:ext cx="10725912" cy="640080"/>
          </a:xfrm>
          <a:prstGeom prst="rect">
            <a:avLst/>
          </a:prstGeom>
          <a:noFill/>
          <a:ln/>
        </p:spPr>
        <p:txBody>
          <a:bodyPr wrap="square" rtlCol="0" anchor="ctr"/>
          <a:lstStyle/>
          <a:p>
            <a:pPr algn="ctr" indent="0" marL="0">
              <a:buNone/>
            </a:pPr>
            <a:r>
              <a:rPr lang="en-US" sz="3200" b="1" dirty="0">
                <a:solidFill>
                  <a:srgbClr val="FFFFFF"/>
                </a:solidFill>
              </a:rPr>
              <a:t>Sie investieren nicht in Versprechen.</a:t>
            </a:r>
            <a:endParaRPr lang="en-US" sz="3200" dirty="0"/>
          </a:p>
        </p:txBody>
      </p:sp>
      <p:sp>
        <p:nvSpPr>
          <p:cNvPr id="3" name="Text 1"/>
          <p:cNvSpPr/>
          <p:nvPr/>
        </p:nvSpPr>
        <p:spPr>
          <a:xfrm>
            <a:off x="731520" y="2286000"/>
            <a:ext cx="10725912" cy="640080"/>
          </a:xfrm>
          <a:prstGeom prst="rect">
            <a:avLst/>
          </a:prstGeom>
          <a:noFill/>
          <a:ln/>
        </p:spPr>
        <p:txBody>
          <a:bodyPr wrap="square" rtlCol="0" anchor="ctr"/>
          <a:lstStyle/>
          <a:p>
            <a:pPr algn="ctr" indent="0" marL="0">
              <a:buNone/>
            </a:pPr>
            <a:r>
              <a:rPr lang="en-US" sz="3200" b="1" dirty="0">
                <a:solidFill>
                  <a:srgbClr val="FFFFFF"/>
                </a:solidFill>
              </a:rPr>
              <a:t>Sie investieren in ein System, das jeden Euro beweist.</a:t>
            </a:r>
            <a:endParaRPr lang="en-US" sz="3200" dirty="0"/>
          </a:p>
        </p:txBody>
      </p:sp>
      <p:sp>
        <p:nvSpPr>
          <p:cNvPr id="4" name="Text 2"/>
          <p:cNvSpPr/>
          <p:nvPr/>
        </p:nvSpPr>
        <p:spPr>
          <a:xfrm>
            <a:off x="1463040" y="3291840"/>
            <a:ext cx="9262872" cy="1188720"/>
          </a:xfrm>
          <a:prstGeom prst="rect">
            <a:avLst/>
          </a:prstGeom>
          <a:noFill/>
          <a:ln/>
        </p:spPr>
        <p:txBody>
          <a:bodyPr wrap="square" rtlCol="0" anchor="ctr"/>
          <a:lstStyle/>
          <a:p>
            <a:pPr algn="ctr" indent="0" marL="0">
              <a:buNone/>
            </a:pPr>
            <a:r>
              <a:rPr lang="en-US" sz="1500" dirty="0">
                <a:solidFill>
                  <a:srgbClr val="E8F0F2"/>
                </a:solidFill>
              </a:rPr>
              <a:t>Bestmögliche Rendite auf Ihr Eigenkapital – aus einem Markt mit 45+ Mrd. € gesicherter öffentlicher Nachfrage, einer Kostenstruktur, die kein Wettbewerber kopieren kann, und einer Tochter-GmbH, die ab Jahr 3 dividendenfähig ist. Belastbare Ist-Zahlen statt Hochglanz-Forecasts liefert das System von Tag 1.</a:t>
            </a:r>
            <a:endParaRPr lang="en-US" sz="1500" dirty="0"/>
          </a:p>
        </p:txBody>
      </p:sp>
      <p:sp>
        <p:nvSpPr>
          <p:cNvPr id="5" name="Text 3"/>
          <p:cNvSpPr/>
          <p:nvPr/>
        </p:nvSpPr>
        <p:spPr>
          <a:xfrm>
            <a:off x="731520" y="4937760"/>
            <a:ext cx="10725912" cy="457200"/>
          </a:xfrm>
          <a:prstGeom prst="rect">
            <a:avLst/>
          </a:prstGeom>
          <a:noFill/>
          <a:ln/>
        </p:spPr>
        <p:txBody>
          <a:bodyPr wrap="square" rtlCol="0" anchor="ctr"/>
          <a:lstStyle/>
          <a:p>
            <a:pPr algn="ctr" indent="0" marL="0">
              <a:buNone/>
            </a:pPr>
            <a:r>
              <a:rPr lang="en-US" sz="1600" b="1" dirty="0">
                <a:solidFill>
                  <a:srgbClr val="FFFFFF"/>
                </a:solidFill>
              </a:rPr>
              <a:t>Bernhard &amp; Florian · Gründer</a:t>
            </a:r>
            <a:endParaRPr lang="en-US" sz="1600" dirty="0"/>
          </a:p>
        </p:txBody>
      </p:sp>
      <p:sp>
        <p:nvSpPr>
          <p:cNvPr id="6" name="Text 4"/>
          <p:cNvSpPr/>
          <p:nvPr/>
        </p:nvSpPr>
        <p:spPr>
          <a:xfrm>
            <a:off x="731520" y="5486400"/>
            <a:ext cx="10725912" cy="548640"/>
          </a:xfrm>
          <a:prstGeom prst="rect">
            <a:avLst/>
          </a:prstGeom>
          <a:noFill/>
          <a:ln/>
        </p:spPr>
        <p:txBody>
          <a:bodyPr wrap="square" rtlCol="0" anchor="ctr"/>
          <a:lstStyle/>
          <a:p>
            <a:pPr algn="ctr" indent="0" marL="0">
              <a:buNone/>
            </a:pPr>
            <a:r>
              <a:rPr lang="en-US" sz="1000" dirty="0">
                <a:solidFill>
                  <a:srgbClr val="B9CDD6"/>
                </a:solidFill>
                <a:latin typeface="Calibri" pitchFamily="34" charset="0"/>
                <a:ea typeface="Calibri" pitchFamily="34" charset="-122"/>
                <a:cs typeface="Calibri" pitchFamily="34" charset="-120"/>
              </a:rPr>
              <a:t>Ideenpapier und ausschreibungsfähiges Lastenheft KAȲȲA OS auf Anfrage · KAȲȲA ist Arbeitstitel, Markenprüfung vorbehalten · kein öffentliches Angebot i. S. d. WpPG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2026-07-22T18:43:13Z</dcterms:created>
  <dcterms:modified xsi:type="dcterms:W3CDTF">2026-07-22T18:43:13Z</dcterms:modified>
</cp:coreProperties>
</file>